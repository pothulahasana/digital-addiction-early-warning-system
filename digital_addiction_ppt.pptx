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84" r:id="rId5"/>
    <p:sldId id="286" r:id="rId6"/>
    <p:sldId id="259" r:id="rId7"/>
    <p:sldId id="274" r:id="rId8"/>
    <p:sldId id="296" r:id="rId9"/>
    <p:sldId id="287" r:id="rId10"/>
    <p:sldId id="279" r:id="rId11"/>
    <p:sldId id="288" r:id="rId12"/>
    <p:sldId id="290" r:id="rId13"/>
    <p:sldId id="293" r:id="rId14"/>
    <p:sldId id="294" r:id="rId15"/>
    <p:sldId id="295" r:id="rId16"/>
    <p:sldId id="282" r:id="rId17"/>
    <p:sldId id="291" r:id="rId18"/>
    <p:sldId id="292" r:id="rId19"/>
    <p:sldId id="269" r:id="rId20"/>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p:cViewPr varScale="1">
        <p:scale>
          <a:sx n="69" d="100"/>
          <a:sy n="69" d="100"/>
        </p:scale>
        <p:origin x="1690"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07-04-2026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2</a:t>
            </a:fld>
            <a:endParaRPr lang="en-IN"/>
          </a:p>
        </p:txBody>
      </p:sp>
    </p:spTree>
    <p:extLst>
      <p:ext uri="{BB962C8B-B14F-4D97-AF65-F5344CB8AC3E}">
        <p14:creationId xmlns:p14="http://schemas.microsoft.com/office/powerpoint/2010/main" val="1440295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Mining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225242"/>
          </a:xfrm>
          <a:prstGeom prst="rect">
            <a:avLst/>
          </a:prstGeom>
        </p:spPr>
        <p:txBody>
          <a:bodyPr vert="horz" wrap="square" lIns="0" tIns="16510" rIns="0" bIns="0" rtlCol="0">
            <a:spAutoFit/>
          </a:bodyPr>
          <a:lstStyle/>
          <a:p>
            <a:pPr algn="ctr">
              <a:lnSpc>
                <a:spcPct val="100000"/>
              </a:lnSpc>
              <a:spcBef>
                <a:spcPts val="130"/>
              </a:spcBef>
            </a:pPr>
            <a:r>
              <a:rPr lang="en-US" sz="2400" dirty="0"/>
              <a:t>Digital Addiction Early Warning System</a:t>
            </a:r>
            <a:endParaRPr lang="en-IN" sz="900" spc="-25" dirty="0">
              <a:solidFill>
                <a:srgbClr val="FF0000"/>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lang="pt-BR" sz="2400" dirty="0"/>
              <a:t>N.D.S.S Madhavi (24B11A1282) </a:t>
            </a:r>
            <a:endParaRPr lang="en-IN" sz="2400" dirty="0"/>
          </a:p>
          <a:p>
            <a:pPr marL="1270" algn="ctr">
              <a:lnSpc>
                <a:spcPct val="100000"/>
              </a:lnSpc>
              <a:spcBef>
                <a:spcPts val="994"/>
              </a:spcBef>
            </a:pPr>
            <a:r>
              <a:rPr lang="en-IN" sz="2400" dirty="0"/>
              <a:t>Hasana Pothula (24B11A1354)</a:t>
            </a:r>
          </a:p>
          <a:p>
            <a:pPr marL="1270" algn="ctr">
              <a:lnSpc>
                <a:spcPct val="100000"/>
              </a:lnSpc>
              <a:spcBef>
                <a:spcPts val="994"/>
              </a:spcBef>
            </a:pPr>
            <a:r>
              <a:rPr lang="en-IN" sz="2400" dirty="0"/>
              <a:t>Rokhiya Begum (24B11AI371) </a:t>
            </a:r>
          </a:p>
          <a:p>
            <a:pPr marL="1270" algn="ctr">
              <a:lnSpc>
                <a:spcPct val="100000"/>
              </a:lnSpc>
              <a:spcBef>
                <a:spcPts val="994"/>
              </a:spcBef>
            </a:pPr>
            <a:r>
              <a:rPr lang="en-IN" sz="2400" dirty="0"/>
              <a:t>S Leela Pavani (24B11A1409) </a:t>
            </a:r>
            <a:endParaRPr lang="en-IN" sz="220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AIML</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290750" y="204311"/>
            <a:ext cx="1163002" cy="424338"/>
          </a:xfrm>
          <a:prstGeom prst="rect">
            <a:avLst/>
          </a:prstGeom>
        </p:spPr>
      </p:pic>
      <p:sp>
        <p:nvSpPr>
          <p:cNvPr id="4" name="object 4"/>
          <p:cNvSpPr txBox="1"/>
          <p:nvPr/>
        </p:nvSpPr>
        <p:spPr>
          <a:xfrm>
            <a:off x="1219200" y="1447800"/>
            <a:ext cx="4151980" cy="4664097"/>
          </a:xfrm>
          <a:prstGeom prst="rect">
            <a:avLst/>
          </a:prstGeom>
        </p:spPr>
        <p:txBody>
          <a:bodyPr vert="horz" wrap="square" lIns="0" tIns="16510" rIns="0" bIns="0" rtlCol="0">
            <a:spAutoFit/>
          </a:bodyPr>
          <a:lstStyle/>
          <a:p>
            <a:pPr marL="389890" indent="-377190" algn="just">
              <a:lnSpc>
                <a:spcPct val="100000"/>
              </a:lnSpc>
              <a:spcBef>
                <a:spcPts val="130"/>
              </a:spcBef>
              <a:buFont typeface="Cambria"/>
              <a:buAutoNum type="arabicPeriod"/>
              <a:tabLst>
                <a:tab pos="389890" algn="l"/>
              </a:tabLst>
            </a:pPr>
            <a:r>
              <a:rPr lang="en-IN" spc="-10"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a:p>
            <a:pPr marL="389890" indent="-377190" algn="just">
              <a:lnSpc>
                <a:spcPct val="100000"/>
              </a:lnSpc>
              <a:spcBef>
                <a:spcPts val="2060"/>
              </a:spcBef>
              <a:buAutoNum type="arabicPeriod"/>
              <a:tabLst>
                <a:tab pos="389890" algn="l"/>
              </a:tabLst>
            </a:pPr>
            <a:r>
              <a:rPr lang="en-IN" dirty="0">
                <a:latin typeface="Times New Roman" panose="02020603050405020304" pitchFamily="18" charset="0"/>
                <a:cs typeface="Times New Roman" panose="02020603050405020304" pitchFamily="18" charset="0"/>
              </a:rPr>
              <a:t>Introduction</a:t>
            </a:r>
          </a:p>
          <a:p>
            <a:pPr marL="389890" indent="-377190" algn="just">
              <a:lnSpc>
                <a:spcPct val="100000"/>
              </a:lnSpc>
              <a:spcBef>
                <a:spcPts val="2060"/>
              </a:spcBef>
              <a:buAutoNum type="arabicPeriod"/>
              <a:tabLst>
                <a:tab pos="389890" algn="l"/>
              </a:tabLst>
            </a:pPr>
            <a:r>
              <a:rPr lang="en-IN" dirty="0">
                <a:latin typeface="Times New Roman" panose="02020603050405020304" pitchFamily="18" charset="0"/>
                <a:cs typeface="Times New Roman" panose="02020603050405020304" pitchFamily="18" charset="0"/>
              </a:rPr>
              <a:t>Data Description</a:t>
            </a:r>
          </a:p>
          <a:p>
            <a:pPr marL="389890" indent="-377190" algn="just">
              <a:lnSpc>
                <a:spcPct val="100000"/>
              </a:lnSpc>
              <a:spcBef>
                <a:spcPts val="2060"/>
              </a:spcBef>
              <a:buAutoNum type="arabicPeriod"/>
              <a:tabLst>
                <a:tab pos="389890" algn="l"/>
              </a:tabLst>
            </a:pPr>
            <a:r>
              <a:rPr lang="en-IN" dirty="0">
                <a:latin typeface="Times New Roman" panose="02020603050405020304" pitchFamily="18" charset="0"/>
                <a:cs typeface="Times New Roman" panose="02020603050405020304" pitchFamily="18" charset="0"/>
              </a:rPr>
              <a:t>Data Preprocessing</a:t>
            </a:r>
          </a:p>
          <a:p>
            <a:pPr marL="389890" indent="-377190" algn="just">
              <a:spcBef>
                <a:spcPts val="2060"/>
              </a:spcBef>
              <a:buFontTx/>
              <a:buAutoNum type="arabicPeriod"/>
              <a:tabLst>
                <a:tab pos="389890" algn="l"/>
              </a:tabLst>
            </a:pPr>
            <a:r>
              <a:rPr lang="en-IN" spc="50" dirty="0">
                <a:latin typeface="Times New Roman" panose="02020603050405020304" pitchFamily="18" charset="0"/>
                <a:cs typeface="Times New Roman" panose="02020603050405020304" pitchFamily="18" charset="0"/>
              </a:rPr>
              <a:t>Methodology</a:t>
            </a:r>
          </a:p>
          <a:p>
            <a:pPr marL="389890" indent="-377190" algn="just">
              <a:spcBef>
                <a:spcPts val="2060"/>
              </a:spcBef>
              <a:buFontTx/>
              <a:buAutoNum type="arabicPeriod"/>
              <a:tabLst>
                <a:tab pos="389890" algn="l"/>
              </a:tabLst>
            </a:pPr>
            <a:r>
              <a:rPr lang="en-IN" dirty="0">
                <a:latin typeface="Times New Roman" panose="02020603050405020304" pitchFamily="18" charset="0"/>
                <a:cs typeface="Times New Roman" panose="02020603050405020304" pitchFamily="18" charset="0"/>
              </a:rPr>
              <a:t>Clustering</a:t>
            </a:r>
          </a:p>
          <a:p>
            <a:pPr marL="389890" indent="-377190" algn="just">
              <a:spcBef>
                <a:spcPts val="2060"/>
              </a:spcBef>
              <a:buFontTx/>
              <a:buAutoNum type="arabicPeriod"/>
              <a:tabLst>
                <a:tab pos="389890" algn="l"/>
              </a:tabLst>
            </a:pPr>
            <a:r>
              <a:rPr lang="en-IN" dirty="0">
                <a:latin typeface="Times New Roman" panose="02020603050405020304" pitchFamily="18" charset="0"/>
                <a:cs typeface="Times New Roman" panose="02020603050405020304" pitchFamily="18" charset="0"/>
              </a:rPr>
              <a:t>Association</a:t>
            </a:r>
          </a:p>
          <a:p>
            <a:pPr marL="389890" indent="-377190" algn="just">
              <a:spcBef>
                <a:spcPts val="2060"/>
              </a:spcBef>
              <a:buFontTx/>
              <a:buAutoNum type="arabicPeriod"/>
              <a:tabLst>
                <a:tab pos="389890" algn="l"/>
              </a:tabLst>
            </a:pPr>
            <a:r>
              <a:rPr lang="en-IN" dirty="0">
                <a:latin typeface="Times New Roman" panose="02020603050405020304" pitchFamily="18" charset="0"/>
                <a:cs typeface="Times New Roman" panose="02020603050405020304" pitchFamily="18" charset="0"/>
              </a:rPr>
              <a:t>Classification</a:t>
            </a:r>
          </a:p>
          <a:p>
            <a:pPr marL="389890" indent="-377190" algn="just">
              <a:spcBef>
                <a:spcPts val="2060"/>
              </a:spcBef>
              <a:buFontTx/>
              <a:buAutoNum type="arabicPeriod"/>
              <a:tabLst>
                <a:tab pos="389890" algn="l"/>
              </a:tabLst>
            </a:pPr>
            <a:r>
              <a:rPr lang="en-IN"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4" cstate="print"/>
            <a:stretch>
              <a:fillRect/>
            </a:stretch>
          </p:blipFill>
          <p:spPr>
            <a:xfrm>
              <a:off x="2648188" y="47148"/>
              <a:ext cx="5103904" cy="1198311"/>
            </a:xfrm>
            <a:prstGeom prst="rect">
              <a:avLst/>
            </a:prstGeom>
          </p:spPr>
        </p:pic>
        <p:pic>
          <p:nvPicPr>
            <p:cNvPr id="7" name="object 5"/>
            <p:cNvPicPr/>
            <p:nvPr/>
          </p:nvPicPr>
          <p:blipFill>
            <a:blip r:embed="rId5" cstate="print"/>
            <a:stretch>
              <a:fillRect/>
            </a:stretch>
          </p:blipFill>
          <p:spPr>
            <a:xfrm>
              <a:off x="2703195" y="86439"/>
              <a:ext cx="4997767" cy="1092279"/>
            </a:xfrm>
            <a:prstGeom prst="rect">
              <a:avLst/>
            </a:prstGeom>
          </p:spPr>
        </p:pic>
        <p:pic>
          <p:nvPicPr>
            <p:cNvPr id="8" name="object 6"/>
            <p:cNvPicPr/>
            <p:nvPr/>
          </p:nvPicPr>
          <p:blipFill>
            <a:blip r:embed="rId6"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628650" y="1243319"/>
            <a:ext cx="8801100" cy="544405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focuses on analyzing student digital usage patterns using the WEKA data mining tool to identify key factors contributing to digital addiction and to predict user risk levels for early intervention. The dataset consists of 870 instances with more than 40 attributes, including screen time, unlock frequency, night usage behavior, and emotional signals, along with the target variable </a:t>
            </a:r>
            <a:r>
              <a:rPr lang="en-US" i="1" dirty="0" err="1">
                <a:latin typeface="Times New Roman" panose="02020603050405020304" pitchFamily="18" charset="0"/>
                <a:cs typeface="Times New Roman" panose="02020603050405020304" pitchFamily="18" charset="0"/>
              </a:rPr>
              <a:t>risk_level</a:t>
            </a:r>
            <a:r>
              <a:rPr lang="en-US" dirty="0">
                <a:latin typeface="Times New Roman" panose="02020603050405020304" pitchFamily="18" charset="0"/>
                <a:cs typeface="Times New Roman" panose="02020603050405020304" pitchFamily="18" charset="0"/>
              </a:rPr>
              <a:t>, categorized as Safe, At-Risk, and High-Risk. To ensure data quality and improve model reliability, several preprocessing techniques were applied, such as String-to-Nominal conversion, handling missing values, normalization of numerical data, and removal of outliers. Furthermore, multiple data mining algorithms were implemented, including J48 (Decision Tree) for classification, SimpleKMeans for clustering similar usage patterns, and </a:t>
            </a:r>
            <a:r>
              <a:rPr lang="en-US" dirty="0" err="1">
                <a:latin typeface="Times New Roman" panose="02020603050405020304" pitchFamily="18" charset="0"/>
                <a:cs typeface="Times New Roman" panose="02020603050405020304" pitchFamily="18" charset="0"/>
              </a:rPr>
              <a:t>Apriori</a:t>
            </a:r>
            <a:r>
              <a:rPr lang="en-US" dirty="0">
                <a:latin typeface="Times New Roman" panose="02020603050405020304" pitchFamily="18" charset="0"/>
                <a:cs typeface="Times New Roman" panose="02020603050405020304" pitchFamily="18" charset="0"/>
              </a:rPr>
              <a:t> for association rule mining. These techniques help uncover hidden behavioral patterns and relationships within the data, enabling the development of a proactive early warning system that can effectively detect and prevent digital addiction among users.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1C49-8824-9CD1-A9FB-4164A2A30CB5}"/>
              </a:ext>
            </a:extLst>
          </p:cNvPr>
          <p:cNvSpPr>
            <a:spLocks noGrp="1"/>
          </p:cNvSpPr>
          <p:nvPr>
            <p:ph type="title"/>
          </p:nvPr>
        </p:nvSpPr>
        <p:spPr/>
        <p:txBody>
          <a:bodyPr/>
          <a:lstStyle/>
          <a:p>
            <a:endParaRPr lang="en-IN" dirty="0"/>
          </a:p>
        </p:txBody>
      </p:sp>
      <p:grpSp>
        <p:nvGrpSpPr>
          <p:cNvPr id="4" name="object 3">
            <a:extLst>
              <a:ext uri="{FF2B5EF4-FFF2-40B4-BE49-F238E27FC236}">
                <a16:creationId xmlns:a16="http://schemas.microsoft.com/office/drawing/2014/main" id="{62A04FF2-8A16-5C67-4A10-E590A41B20BB}"/>
              </a:ext>
            </a:extLst>
          </p:cNvPr>
          <p:cNvGrpSpPr/>
          <p:nvPr/>
        </p:nvGrpSpPr>
        <p:grpSpPr>
          <a:xfrm>
            <a:off x="2819400" y="609600"/>
            <a:ext cx="5103904" cy="1198311"/>
            <a:chOff x="2648188" y="47148"/>
            <a:chExt cx="5103904" cy="1198311"/>
          </a:xfrm>
        </p:grpSpPr>
        <p:pic>
          <p:nvPicPr>
            <p:cNvPr id="5" name="object 4">
              <a:extLst>
                <a:ext uri="{FF2B5EF4-FFF2-40B4-BE49-F238E27FC236}">
                  <a16:creationId xmlns:a16="http://schemas.microsoft.com/office/drawing/2014/main" id="{519455CF-F7F1-B792-0F72-74FB1658C8D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A96FD01-FE56-A244-D089-B53242350DAC}"/>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7085CF7-43DC-18EA-E9D6-C06D3F105416}"/>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6B6AA9F-D45B-54B3-7E51-4AE4CCCE3F5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Data Description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
        <p:nvSpPr>
          <p:cNvPr id="10" name="TextBox 9">
            <a:extLst>
              <a:ext uri="{FF2B5EF4-FFF2-40B4-BE49-F238E27FC236}">
                <a16:creationId xmlns:a16="http://schemas.microsoft.com/office/drawing/2014/main" id="{EC04DCBE-BBD1-D203-CBB1-9007EE3C4AF7}"/>
              </a:ext>
            </a:extLst>
          </p:cNvPr>
          <p:cNvSpPr txBox="1"/>
          <p:nvPr/>
        </p:nvSpPr>
        <p:spPr>
          <a:xfrm>
            <a:off x="2514600" y="3675556"/>
            <a:ext cx="5029200" cy="369332"/>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Data Preprocessing</a:t>
            </a:r>
          </a:p>
        </p:txBody>
      </p:sp>
      <p:sp>
        <p:nvSpPr>
          <p:cNvPr id="11" name="Text Placeholder 10">
            <a:extLst>
              <a:ext uri="{FF2B5EF4-FFF2-40B4-BE49-F238E27FC236}">
                <a16:creationId xmlns:a16="http://schemas.microsoft.com/office/drawing/2014/main" id="{399AF1E6-CD78-6968-14CE-4F70CB689C94}"/>
              </a:ext>
            </a:extLst>
          </p:cNvPr>
          <p:cNvSpPr>
            <a:spLocks noGrp="1"/>
          </p:cNvSpPr>
          <p:nvPr>
            <p:ph type="body" idx="1"/>
          </p:nvPr>
        </p:nvSpPr>
        <p:spPr>
          <a:xfrm>
            <a:off x="335316" y="1419180"/>
            <a:ext cx="9646884" cy="6182718"/>
          </a:xfrm>
        </p:spPr>
        <p:txBody>
          <a:bodyPr/>
          <a:lstStyle/>
          <a:p>
            <a:pPr algn="just">
              <a:lnSpc>
                <a:spcPct val="150000"/>
              </a:lnSpc>
            </a:pPr>
            <a:r>
              <a:rPr lang="en-US" sz="1800" b="0" dirty="0">
                <a:latin typeface="Times New Roman" panose="02020603050405020304" pitchFamily="18" charset="0"/>
                <a:cs typeface="Times New Roman" panose="02020603050405020304" pitchFamily="18" charset="0"/>
              </a:rPr>
              <a:t>The dataset used in this project contains information related to student digital behavior, psychological triggers, and screen-time patterns.</a:t>
            </a:r>
          </a:p>
          <a:p>
            <a:pPr algn="just">
              <a:lnSpc>
                <a:spcPct val="150000"/>
              </a:lnSpc>
            </a:pPr>
            <a:r>
              <a:rPr lang="en-US" sz="1800" dirty="0">
                <a:latin typeface="Times New Roman" panose="02020603050405020304" pitchFamily="18" charset="0"/>
                <a:cs typeface="Times New Roman" panose="02020603050405020304" pitchFamily="18" charset="0"/>
              </a:rPr>
              <a:t>Dataset Details</a:t>
            </a:r>
          </a:p>
          <a:p>
            <a:pPr algn="just">
              <a:lnSpc>
                <a:spcPct val="150000"/>
              </a:lnSpc>
            </a:pPr>
            <a:r>
              <a:rPr lang="en-US" sz="1800" b="0" dirty="0">
                <a:latin typeface="Times New Roman" panose="02020603050405020304" pitchFamily="18" charset="0"/>
                <a:cs typeface="Times New Roman" panose="02020603050405020304" pitchFamily="18" charset="0"/>
              </a:rPr>
              <a:t>Format: .</a:t>
            </a:r>
            <a:r>
              <a:rPr lang="en-US" sz="1800" b="0" dirty="0" err="1">
                <a:latin typeface="Times New Roman" panose="02020603050405020304" pitchFamily="18" charset="0"/>
                <a:cs typeface="Times New Roman" panose="02020603050405020304" pitchFamily="18" charset="0"/>
              </a:rPr>
              <a:t>arff</a:t>
            </a:r>
            <a:r>
              <a:rPr lang="en-US" sz="1800" b="0" dirty="0">
                <a:latin typeface="Times New Roman" panose="02020603050405020304" pitchFamily="18" charset="0"/>
                <a:cs typeface="Times New Roman" panose="02020603050405020304" pitchFamily="18" charset="0"/>
              </a:rPr>
              <a:t> (optimized for WEKA)</a:t>
            </a:r>
          </a:p>
          <a:p>
            <a:pPr algn="just">
              <a:lnSpc>
                <a:spcPct val="150000"/>
              </a:lnSpc>
            </a:pPr>
            <a:r>
              <a:rPr lang="en-US" sz="1800" b="0" dirty="0">
                <a:latin typeface="Times New Roman" panose="02020603050405020304" pitchFamily="18" charset="0"/>
                <a:cs typeface="Times New Roman" panose="02020603050405020304" pitchFamily="18" charset="0"/>
              </a:rPr>
              <a:t>Total Instances: 870</a:t>
            </a:r>
          </a:p>
          <a:p>
            <a:pPr algn="just">
              <a:lnSpc>
                <a:spcPct val="150000"/>
              </a:lnSpc>
            </a:pPr>
            <a:r>
              <a:rPr lang="en-US" sz="1800" b="0" dirty="0">
                <a:latin typeface="Times New Roman" panose="02020603050405020304" pitchFamily="18" charset="0"/>
                <a:cs typeface="Times New Roman" panose="02020603050405020304" pitchFamily="18" charset="0"/>
              </a:rPr>
              <a:t>Type: Structured Behavioral Dataset</a:t>
            </a:r>
          </a:p>
          <a:p>
            <a:pPr algn="just">
              <a:lnSpc>
                <a:spcPct val="150000"/>
              </a:lnSpc>
            </a:pPr>
            <a:r>
              <a:rPr lang="en-US" sz="1800" b="0" dirty="0">
                <a:latin typeface="Times New Roman" panose="02020603050405020304" pitchFamily="18" charset="0"/>
                <a:cs typeface="Times New Roman" panose="02020603050405020304" pitchFamily="18" charset="0"/>
              </a:rPr>
              <a:t>Attributes: 40+ Features</a:t>
            </a:r>
          </a:p>
          <a:p>
            <a:pPr algn="just">
              <a:lnSpc>
                <a:spcPct val="150000"/>
              </a:lnSpc>
            </a:pPr>
            <a:r>
              <a:rPr lang="en-US" sz="1800" dirty="0">
                <a:latin typeface="Times New Roman" panose="02020603050405020304" pitchFamily="18" charset="0"/>
                <a:cs typeface="Times New Roman" panose="02020603050405020304" pitchFamily="18" charset="0"/>
              </a:rPr>
              <a:t>Attributes Used:</a:t>
            </a:r>
          </a:p>
          <a:p>
            <a:pPr algn="just">
              <a:lnSpc>
                <a:spcPct val="150000"/>
              </a:lnSpc>
            </a:pPr>
            <a:r>
              <a:rPr lang="en-US" sz="1800" b="0" dirty="0">
                <a:latin typeface="Times New Roman" panose="02020603050405020304" pitchFamily="18" charset="0"/>
                <a:cs typeface="Times New Roman" panose="02020603050405020304" pitchFamily="18" charset="0"/>
              </a:rPr>
              <a:t>User_ID – Unique identifier for each student participant.</a:t>
            </a:r>
          </a:p>
          <a:p>
            <a:pPr algn="just">
              <a:lnSpc>
                <a:spcPct val="150000"/>
              </a:lnSpc>
            </a:pPr>
            <a:r>
              <a:rPr lang="en-US" sz="1800" b="0" dirty="0" err="1">
                <a:latin typeface="Times New Roman" panose="02020603050405020304" pitchFamily="18" charset="0"/>
                <a:cs typeface="Times New Roman" panose="02020603050405020304" pitchFamily="18" charset="0"/>
              </a:rPr>
              <a:t>Total_Screen_Time</a:t>
            </a:r>
            <a:r>
              <a:rPr lang="en-US" sz="1800" b="0" dirty="0">
                <a:latin typeface="Times New Roman" panose="02020603050405020304" pitchFamily="18" charset="0"/>
                <a:cs typeface="Times New Roman" panose="02020603050405020304" pitchFamily="18" charset="0"/>
              </a:rPr>
              <a:t> – Total duration (in minutes) spent on the device daily.</a:t>
            </a:r>
          </a:p>
          <a:p>
            <a:pPr algn="just">
              <a:lnSpc>
                <a:spcPct val="150000"/>
              </a:lnSpc>
            </a:pPr>
            <a:r>
              <a:rPr lang="en-US" sz="1800" b="0" dirty="0" err="1">
                <a:latin typeface="Times New Roman" panose="02020603050405020304" pitchFamily="18" charset="0"/>
                <a:cs typeface="Times New Roman" panose="02020603050405020304" pitchFamily="18" charset="0"/>
              </a:rPr>
              <a:t>Unlock_Count</a:t>
            </a:r>
            <a:r>
              <a:rPr lang="en-US" sz="1800" b="0" dirty="0">
                <a:latin typeface="Times New Roman" panose="02020603050405020304" pitchFamily="18" charset="0"/>
                <a:cs typeface="Times New Roman" panose="02020603050405020304" pitchFamily="18" charset="0"/>
              </a:rPr>
              <a:t> – The number of times the phone was unlocked per day.</a:t>
            </a:r>
          </a:p>
          <a:p>
            <a:pPr algn="just">
              <a:lnSpc>
                <a:spcPct val="150000"/>
              </a:lnSpc>
            </a:pPr>
            <a:r>
              <a:rPr lang="en-US" sz="1800" b="0" dirty="0" err="1">
                <a:latin typeface="Times New Roman" panose="02020603050405020304" pitchFamily="18" charset="0"/>
                <a:cs typeface="Times New Roman" panose="02020603050405020304" pitchFamily="18" charset="0"/>
              </a:rPr>
              <a:t>Night_Usage</a:t>
            </a:r>
            <a:r>
              <a:rPr lang="en-US" sz="1800" b="0" dirty="0">
                <a:latin typeface="Times New Roman" panose="02020603050405020304" pitchFamily="18" charset="0"/>
                <a:cs typeface="Times New Roman" panose="02020603050405020304" pitchFamily="18" charset="0"/>
              </a:rPr>
              <a:t> – Hours of usage recorded between 11 PM and 5 AM.</a:t>
            </a:r>
          </a:p>
          <a:p>
            <a:pPr algn="just">
              <a:lnSpc>
                <a:spcPct val="150000"/>
              </a:lnSpc>
            </a:pPr>
            <a:r>
              <a:rPr lang="en-US" sz="1800" b="0" dirty="0" err="1">
                <a:latin typeface="Times New Roman" panose="02020603050405020304" pitchFamily="18" charset="0"/>
                <a:cs typeface="Times New Roman" panose="02020603050405020304" pitchFamily="18" charset="0"/>
              </a:rPr>
              <a:t>Social_Media_Time</a:t>
            </a:r>
            <a:r>
              <a:rPr lang="en-US" sz="1800" b="0" dirty="0">
                <a:latin typeface="Times New Roman" panose="02020603050405020304" pitchFamily="18" charset="0"/>
                <a:cs typeface="Times New Roman" panose="02020603050405020304" pitchFamily="18" charset="0"/>
              </a:rPr>
              <a:t> – Time spent specifically on social networking applications.</a:t>
            </a:r>
          </a:p>
          <a:p>
            <a:pPr algn="just">
              <a:lnSpc>
                <a:spcPct val="150000"/>
              </a:lnSpc>
            </a:pPr>
            <a:r>
              <a:rPr lang="en-US" sz="1800" b="0" dirty="0" err="1">
                <a:latin typeface="Times New Roman" panose="02020603050405020304" pitchFamily="18" charset="0"/>
                <a:cs typeface="Times New Roman" panose="02020603050405020304" pitchFamily="18" charset="0"/>
              </a:rPr>
              <a:t>Gaming_Time</a:t>
            </a:r>
            <a:r>
              <a:rPr lang="en-US" sz="1800" b="0" dirty="0">
                <a:latin typeface="Times New Roman" panose="02020603050405020304" pitchFamily="18" charset="0"/>
                <a:cs typeface="Times New Roman" panose="02020603050405020304" pitchFamily="18" charset="0"/>
              </a:rPr>
              <a:t> – Total duration spent on mobile gaming.</a:t>
            </a:r>
          </a:p>
          <a:p>
            <a:pPr algn="just">
              <a:lnSpc>
                <a:spcPct val="150000"/>
              </a:lnSpc>
            </a:pPr>
            <a:endParaRPr lang="en-IN" sz="1800" b="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DC951F1-A51A-E176-217E-ED8E61F4E6E1}"/>
              </a:ext>
            </a:extLst>
          </p:cNvPr>
          <p:cNvSpPr txBox="1"/>
          <p:nvPr/>
        </p:nvSpPr>
        <p:spPr>
          <a:xfrm>
            <a:off x="1981200" y="2895600"/>
            <a:ext cx="5029200" cy="369332"/>
          </a:xfrm>
          <a:prstGeom prst="rect">
            <a:avLst/>
          </a:prstGeom>
          <a:noFill/>
        </p:spPr>
        <p:txBody>
          <a:bodyPr wrap="square">
            <a:spAutoFit/>
          </a:bodyPr>
          <a:lstStyle/>
          <a:p>
            <a:pPr>
              <a:buNone/>
            </a:pPr>
            <a:r>
              <a:rPr lang="en-US" dirty="0"/>
              <a:t>.</a:t>
            </a:r>
          </a:p>
        </p:txBody>
      </p:sp>
    </p:spTree>
    <p:extLst>
      <p:ext uri="{BB962C8B-B14F-4D97-AF65-F5344CB8AC3E}">
        <p14:creationId xmlns:p14="http://schemas.microsoft.com/office/powerpoint/2010/main" val="826670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A5A52-8C27-4851-B598-F2842636282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45D562EA-1D0B-D325-0EC4-38FCDFE0B909}"/>
              </a:ext>
            </a:extLst>
          </p:cNvPr>
          <p:cNvSpPr>
            <a:spLocks noGrp="1"/>
          </p:cNvSpPr>
          <p:nvPr>
            <p:ph type="body" idx="1"/>
          </p:nvPr>
        </p:nvSpPr>
        <p:spPr>
          <a:xfrm>
            <a:off x="620727" y="1395256"/>
            <a:ext cx="8949055" cy="3070071"/>
          </a:xfrm>
        </p:spPr>
        <p:txBody>
          <a:bodyPr/>
          <a:lstStyle/>
          <a:p>
            <a:pPr algn="just">
              <a:lnSpc>
                <a:spcPct val="150000"/>
              </a:lnSpc>
            </a:pPr>
            <a:r>
              <a:rPr lang="en-US" sz="2000" b="0" dirty="0" err="1">
                <a:latin typeface="Times New Roman" panose="02020603050405020304" pitchFamily="18" charset="0"/>
                <a:cs typeface="Times New Roman" panose="02020603050405020304" pitchFamily="18" charset="0"/>
              </a:rPr>
              <a:t>Mood_Score</a:t>
            </a:r>
            <a:r>
              <a:rPr lang="en-US" sz="2000" b="0" dirty="0">
                <a:latin typeface="Times New Roman" panose="02020603050405020304" pitchFamily="18" charset="0"/>
                <a:cs typeface="Times New Roman" panose="02020603050405020304" pitchFamily="18" charset="0"/>
              </a:rPr>
              <a:t> – Self-reported emotional state (Scale 1-5) before/after usage.</a:t>
            </a:r>
          </a:p>
          <a:p>
            <a:pPr algn="just">
              <a:lnSpc>
                <a:spcPct val="150000"/>
              </a:lnSpc>
            </a:pPr>
            <a:r>
              <a:rPr lang="en-US" sz="2000" b="0" dirty="0" err="1">
                <a:latin typeface="Times New Roman" panose="02020603050405020304" pitchFamily="18" charset="0"/>
                <a:cs typeface="Times New Roman" panose="02020603050405020304" pitchFamily="18" charset="0"/>
              </a:rPr>
              <a:t>Phantom_Check_Events</a:t>
            </a:r>
            <a:r>
              <a:rPr lang="en-US" sz="2000" b="0" dirty="0">
                <a:latin typeface="Times New Roman" panose="02020603050405020304" pitchFamily="18" charset="0"/>
                <a:cs typeface="Times New Roman" panose="02020603050405020304" pitchFamily="18" charset="0"/>
              </a:rPr>
              <a:t> – Frequency of checking the phone without notifications.</a:t>
            </a:r>
          </a:p>
          <a:p>
            <a:pPr algn="just">
              <a:lnSpc>
                <a:spcPct val="150000"/>
              </a:lnSpc>
            </a:pPr>
            <a:r>
              <a:rPr lang="en-US" sz="2000" b="0" dirty="0" err="1">
                <a:latin typeface="Times New Roman" panose="02020603050405020304" pitchFamily="18" charset="0"/>
                <a:cs typeface="Times New Roman" panose="02020603050405020304" pitchFamily="18" charset="0"/>
              </a:rPr>
              <a:t>Anxiety_Level</a:t>
            </a:r>
            <a:r>
              <a:rPr lang="en-US" sz="2000" b="0" dirty="0">
                <a:latin typeface="Times New Roman" panose="02020603050405020304" pitchFamily="18" charset="0"/>
                <a:cs typeface="Times New Roman" panose="02020603050405020304" pitchFamily="18" charset="0"/>
              </a:rPr>
              <a:t> – Reported stress or anxiety when the device is inaccessible.</a:t>
            </a:r>
          </a:p>
          <a:p>
            <a:pPr algn="just">
              <a:lnSpc>
                <a:spcPct val="150000"/>
              </a:lnSpc>
            </a:pPr>
            <a:r>
              <a:rPr lang="en-US" sz="2000" b="0" dirty="0" err="1">
                <a:latin typeface="Times New Roman" panose="02020603050405020304" pitchFamily="18" charset="0"/>
                <a:cs typeface="Times New Roman" panose="02020603050405020304" pitchFamily="18" charset="0"/>
              </a:rPr>
              <a:t>App_Switching_Frequency</a:t>
            </a:r>
            <a:r>
              <a:rPr lang="en-US" sz="2000" b="0" dirty="0">
                <a:latin typeface="Times New Roman" panose="02020603050405020304" pitchFamily="18" charset="0"/>
                <a:cs typeface="Times New Roman" panose="02020603050405020304" pitchFamily="18" charset="0"/>
              </a:rPr>
              <a:t> – Rate of toggling between different applications.</a:t>
            </a:r>
          </a:p>
          <a:p>
            <a:pPr algn="just">
              <a:lnSpc>
                <a:spcPct val="150000"/>
              </a:lnSpc>
            </a:pPr>
            <a:r>
              <a:rPr lang="en-US" sz="2000" b="0" dirty="0" err="1">
                <a:latin typeface="Times New Roman" panose="02020603050405020304" pitchFamily="18" charset="0"/>
                <a:cs typeface="Times New Roman" panose="02020603050405020304" pitchFamily="18" charset="0"/>
              </a:rPr>
              <a:t>Productivity_Time</a:t>
            </a:r>
            <a:r>
              <a:rPr lang="en-US" sz="2000" b="0" dirty="0">
                <a:latin typeface="Times New Roman" panose="02020603050405020304" pitchFamily="18" charset="0"/>
                <a:cs typeface="Times New Roman" panose="02020603050405020304" pitchFamily="18" charset="0"/>
              </a:rPr>
              <a:t> – Time spent on educational or utility-based apps.</a:t>
            </a:r>
          </a:p>
          <a:p>
            <a:pPr algn="just">
              <a:lnSpc>
                <a:spcPct val="150000"/>
              </a:lnSpc>
            </a:pPr>
            <a:r>
              <a:rPr lang="en-US" sz="2000" b="0" dirty="0" err="1">
                <a:latin typeface="Times New Roman" panose="02020603050405020304" pitchFamily="18" charset="0"/>
                <a:cs typeface="Times New Roman" panose="02020603050405020304" pitchFamily="18" charset="0"/>
              </a:rPr>
              <a:t>Digital_Addiction_Risk_Level</a:t>
            </a:r>
            <a:r>
              <a:rPr lang="en-US" sz="2000" b="0" dirty="0">
                <a:latin typeface="Times New Roman" panose="02020603050405020304" pitchFamily="18" charset="0"/>
                <a:cs typeface="Times New Roman" panose="02020603050405020304" pitchFamily="18" charset="0"/>
              </a:rPr>
              <a:t> (Target) – Categorized as Safe, At-Risk, or High-Risk.</a:t>
            </a:r>
          </a:p>
          <a:p>
            <a:endParaRPr lang="en-IN" dirty="0"/>
          </a:p>
        </p:txBody>
      </p:sp>
      <p:grpSp>
        <p:nvGrpSpPr>
          <p:cNvPr id="4" name="object 3">
            <a:extLst>
              <a:ext uri="{FF2B5EF4-FFF2-40B4-BE49-F238E27FC236}">
                <a16:creationId xmlns:a16="http://schemas.microsoft.com/office/drawing/2014/main" id="{0061D0D4-4E18-F716-A0E6-510CEFD1D0EF}"/>
              </a:ext>
            </a:extLst>
          </p:cNvPr>
          <p:cNvGrpSpPr/>
          <p:nvPr/>
        </p:nvGrpSpPr>
        <p:grpSpPr>
          <a:xfrm>
            <a:off x="2819400" y="609600"/>
            <a:ext cx="5103904" cy="1198311"/>
            <a:chOff x="2648188" y="47148"/>
            <a:chExt cx="5103904" cy="1198311"/>
          </a:xfrm>
        </p:grpSpPr>
        <p:pic>
          <p:nvPicPr>
            <p:cNvPr id="5" name="object 4">
              <a:extLst>
                <a:ext uri="{FF2B5EF4-FFF2-40B4-BE49-F238E27FC236}">
                  <a16:creationId xmlns:a16="http://schemas.microsoft.com/office/drawing/2014/main" id="{66094BCB-BBF0-FF3C-8246-3BF8E9A36F5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EA8998C-5C06-9089-5E44-B052D9E1E66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B38472D3-FD5E-EF17-A5CC-4242E201453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05C1B40-B2A5-3495-F71B-12762C23D4EF}"/>
                </a:ext>
              </a:extLst>
            </p:cNvPr>
            <p:cNvSpPr/>
            <p:nvPr/>
          </p:nvSpPr>
          <p:spPr>
            <a:xfrm>
              <a:off x="2969498"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Data Description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Tree>
    <p:extLst>
      <p:ext uri="{BB962C8B-B14F-4D97-AF65-F5344CB8AC3E}">
        <p14:creationId xmlns:p14="http://schemas.microsoft.com/office/powerpoint/2010/main" val="417261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344896"/>
            <a:ext cx="5103904" cy="1636304"/>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754422"/>
            <a:ext cx="5029200" cy="430887"/>
          </a:xfrm>
          <a:prstGeom prst="rect">
            <a:avLst/>
          </a:prstGeom>
          <a:noFill/>
        </p:spPr>
        <p:txBody>
          <a:bodyPr wrap="square">
            <a:spAutoFit/>
          </a:bodyPr>
          <a:lstStyle/>
          <a:p>
            <a:r>
              <a:rPr lang="en-US" sz="2200" b="1" dirty="0">
                <a:solidFill>
                  <a:schemeClr val="bg1"/>
                </a:solidFill>
              </a:rPr>
              <a:t>Problem Statement</a:t>
            </a:r>
            <a:endParaRPr lang="en-IN" sz="220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3DC6A868-5999-92BA-E5EF-133144AB1C8D}"/>
              </a:ext>
            </a:extLst>
          </p:cNvPr>
          <p:cNvSpPr>
            <a:spLocks noChangeArrowheads="1"/>
          </p:cNvSpPr>
          <p:nvPr/>
        </p:nvSpPr>
        <p:spPr bwMode="auto">
          <a:xfrm>
            <a:off x="457200" y="3634073"/>
            <a:ext cx="8991600" cy="87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rtl="0" eaLnBrk="0" fontAlgn="base" hangingPunct="0">
              <a:lnSpc>
                <a:spcPct val="150000"/>
              </a:lnSpc>
              <a:spcBef>
                <a:spcPct val="0"/>
              </a:spcBef>
              <a:spcAft>
                <a:spcPct val="0"/>
              </a:spcAft>
            </a:pPr>
            <a:br>
              <a:rPr lang="en-US" dirty="0"/>
            </a:b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9AA759F-CB47-0D54-A21D-6CEDAE65FB9C}"/>
              </a:ext>
            </a:extLst>
          </p:cNvPr>
          <p:cNvSpPr txBox="1"/>
          <p:nvPr/>
        </p:nvSpPr>
        <p:spPr>
          <a:xfrm>
            <a:off x="457201" y="2058280"/>
            <a:ext cx="9220200" cy="3366563"/>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Problem: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Existing tools only track surface metrics (screen time) and lack predictive capabilities to detect addiction before it becomes severe.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Sub-Problems: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Absence of early warning alerts.</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Fragmented data across multiple apps.</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Reactive instead of proactive interventions.</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Ignoring individual differences in usage patterns.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B0A686C3-D8C4-6247-5D18-DB9B451B7060}"/>
              </a:ext>
            </a:extLst>
          </p:cNvPr>
          <p:cNvGrpSpPr/>
          <p:nvPr/>
        </p:nvGrpSpPr>
        <p:grpSpPr>
          <a:xfrm>
            <a:off x="2634964" y="79842"/>
            <a:ext cx="5103904" cy="1198311"/>
            <a:chOff x="2648188" y="47148"/>
            <a:chExt cx="5103904" cy="1198311"/>
          </a:xfrm>
        </p:grpSpPr>
        <p:pic>
          <p:nvPicPr>
            <p:cNvPr id="3" name="object 4">
              <a:extLst>
                <a:ext uri="{FF2B5EF4-FFF2-40B4-BE49-F238E27FC236}">
                  <a16:creationId xmlns:a16="http://schemas.microsoft.com/office/drawing/2014/main" id="{AAB6571D-EE3C-3F09-50F2-DBDE98655C4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0190BE47-D723-6C71-DA74-D8341220BCBB}"/>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128FD2A-3D69-69A4-62B9-C3CFA6A6594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E317AF7-DE5A-8213-5647-B64A997D2D2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pic>
        <p:nvPicPr>
          <p:cNvPr id="13" name="object 3">
            <a:extLst>
              <a:ext uri="{FF2B5EF4-FFF2-40B4-BE49-F238E27FC236}">
                <a16:creationId xmlns:a16="http://schemas.microsoft.com/office/drawing/2014/main" id="{F5E2EE77-59CB-1AE9-9CEE-89BB39A62B06}"/>
              </a:ext>
            </a:extLst>
          </p:cNvPr>
          <p:cNvPicPr/>
          <p:nvPr/>
        </p:nvPicPr>
        <p:blipFill>
          <a:blip r:embed="rId5" cstate="print"/>
          <a:stretch>
            <a:fillRect/>
          </a:stretch>
        </p:blipFill>
        <p:spPr>
          <a:xfrm>
            <a:off x="290750" y="204311"/>
            <a:ext cx="1163002" cy="424338"/>
          </a:xfrm>
          <a:prstGeom prst="rect">
            <a:avLst/>
          </a:prstGeom>
        </p:spPr>
      </p:pic>
      <p:sp>
        <p:nvSpPr>
          <p:cNvPr id="14" name="TextBox 13">
            <a:extLst>
              <a:ext uri="{FF2B5EF4-FFF2-40B4-BE49-F238E27FC236}">
                <a16:creationId xmlns:a16="http://schemas.microsoft.com/office/drawing/2014/main" id="{F73F6589-BFA1-7921-DC13-DD166C4A3C14}"/>
              </a:ext>
            </a:extLst>
          </p:cNvPr>
          <p:cNvSpPr txBox="1"/>
          <p:nvPr/>
        </p:nvSpPr>
        <p:spPr>
          <a:xfrm>
            <a:off x="7868756" y="320752"/>
            <a:ext cx="5029200" cy="669414"/>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ANALYSIS</a:t>
            </a:r>
          </a:p>
          <a:p>
            <a:r>
              <a:rPr lang="en-IN" dirty="0">
                <a:solidFill>
                  <a:schemeClr val="bg1"/>
                </a:solidFill>
                <a:latin typeface="Times New Roman" panose="02020603050405020304" pitchFamily="18" charset="0"/>
                <a:cs typeface="Times New Roman" panose="02020603050405020304" pitchFamily="18" charset="0"/>
              </a:rPr>
              <a:t>Data Preprocessing</a:t>
            </a:r>
            <a:endParaRPr lang="en-IN" sz="1800" b="1" dirty="0">
              <a:solidFill>
                <a:schemeClr val="bg1"/>
              </a:solidFill>
              <a:latin typeface="Times New Roman" panose="02020603050405020304" pitchFamily="18" charset="0"/>
              <a:cs typeface="Times New Roman" panose="02020603050405020304" pitchFamily="18" charset="0"/>
            </a:endParaRPr>
          </a:p>
        </p:txBody>
      </p:sp>
      <p:sp>
        <p:nvSpPr>
          <p:cNvPr id="4" name="Text Placeholder 2">
            <a:extLst>
              <a:ext uri="{FF2B5EF4-FFF2-40B4-BE49-F238E27FC236}">
                <a16:creationId xmlns:a16="http://schemas.microsoft.com/office/drawing/2014/main" id="{36F814BC-1934-57F5-E131-AE85D15D73A8}"/>
              </a:ext>
            </a:extLst>
          </p:cNvPr>
          <p:cNvSpPr>
            <a:spLocks noGrp="1"/>
          </p:cNvSpPr>
          <p:nvPr>
            <p:ph type="body" idx="1"/>
          </p:nvPr>
        </p:nvSpPr>
        <p:spPr>
          <a:xfrm>
            <a:off x="872251" y="1466858"/>
            <a:ext cx="8949055" cy="4936223"/>
          </a:xfrm>
        </p:spPr>
        <p:txBody>
          <a:bodyPr/>
          <a:lstStyle/>
          <a:p>
            <a:pPr algn="just">
              <a:lnSpc>
                <a:spcPct val="150000"/>
              </a:lnSpc>
            </a:pPr>
            <a:r>
              <a:rPr lang="en-US" sz="1800" b="0" dirty="0">
                <a:latin typeface="Times New Roman" panose="02020603050405020304" pitchFamily="18" charset="0"/>
                <a:cs typeface="Times New Roman" panose="02020603050405020304" pitchFamily="18" charset="0"/>
              </a:rPr>
              <a:t>Selecting and transforming key attributes to improve model accuracy and risk prediction.</a:t>
            </a:r>
          </a:p>
          <a:p>
            <a:pPr algn="just">
              <a:lnSpc>
                <a:spcPct val="150000"/>
              </a:lnSpc>
            </a:pPr>
            <a:r>
              <a:rPr lang="en-US" sz="1800" dirty="0">
                <a:latin typeface="Times New Roman" panose="02020603050405020304" pitchFamily="18" charset="0"/>
                <a:cs typeface="Times New Roman" panose="02020603050405020304" pitchFamily="18" charset="0"/>
              </a:rPr>
              <a:t>Extracted Features</a:t>
            </a:r>
          </a:p>
          <a:p>
            <a:pPr algn="just">
              <a:lnSpc>
                <a:spcPct val="150000"/>
              </a:lnSpc>
            </a:pPr>
            <a:r>
              <a:rPr lang="en-US" sz="1800" b="0" dirty="0" err="1">
                <a:latin typeface="Times New Roman" panose="02020603050405020304" pitchFamily="18" charset="0"/>
                <a:cs typeface="Times New Roman" panose="02020603050405020304" pitchFamily="18" charset="0"/>
              </a:rPr>
              <a:t>Total_Screen_Time</a:t>
            </a:r>
            <a:r>
              <a:rPr lang="en-US" sz="1800" b="0" dirty="0">
                <a:latin typeface="Times New Roman" panose="02020603050405020304" pitchFamily="18" charset="0"/>
                <a:cs typeface="Times New Roman" panose="02020603050405020304" pitchFamily="18" charset="0"/>
              </a:rPr>
              <a:t> &amp; </a:t>
            </a:r>
            <a:r>
              <a:rPr lang="en-US" sz="1800" b="0" dirty="0" err="1">
                <a:latin typeface="Times New Roman" panose="02020603050405020304" pitchFamily="18" charset="0"/>
                <a:cs typeface="Times New Roman" panose="02020603050405020304" pitchFamily="18" charset="0"/>
              </a:rPr>
              <a:t>Unlock_Count</a:t>
            </a:r>
            <a:endParaRPr lang="en-US" sz="1800" b="0" dirty="0">
              <a:latin typeface="Times New Roman" panose="02020603050405020304" pitchFamily="18" charset="0"/>
              <a:cs typeface="Times New Roman" panose="02020603050405020304" pitchFamily="18" charset="0"/>
            </a:endParaRPr>
          </a:p>
          <a:p>
            <a:pPr algn="just">
              <a:lnSpc>
                <a:spcPct val="150000"/>
              </a:lnSpc>
            </a:pPr>
            <a:r>
              <a:rPr lang="en-US" sz="1800" b="0" dirty="0" err="1">
                <a:latin typeface="Times New Roman" panose="02020603050405020304" pitchFamily="18" charset="0"/>
                <a:cs typeface="Times New Roman" panose="02020603050405020304" pitchFamily="18" charset="0"/>
              </a:rPr>
              <a:t>Night_Usage</a:t>
            </a:r>
            <a:r>
              <a:rPr lang="en-US" sz="1800" b="0" dirty="0">
                <a:latin typeface="Times New Roman" panose="02020603050405020304" pitchFamily="18" charset="0"/>
                <a:cs typeface="Times New Roman" panose="02020603050405020304" pitchFamily="18" charset="0"/>
              </a:rPr>
              <a:t> (11 PM – 5 AM)</a:t>
            </a:r>
          </a:p>
          <a:p>
            <a:pPr algn="just">
              <a:lnSpc>
                <a:spcPct val="150000"/>
              </a:lnSpc>
            </a:pPr>
            <a:r>
              <a:rPr lang="en-US" sz="1800" b="0" dirty="0" err="1">
                <a:latin typeface="Times New Roman" panose="02020603050405020304" pitchFamily="18" charset="0"/>
                <a:cs typeface="Times New Roman" panose="02020603050405020304" pitchFamily="18" charset="0"/>
              </a:rPr>
              <a:t>Social_Media_Time</a:t>
            </a:r>
            <a:r>
              <a:rPr lang="en-US" sz="1800" b="0" dirty="0">
                <a:latin typeface="Times New Roman" panose="02020603050405020304" pitchFamily="18" charset="0"/>
                <a:cs typeface="Times New Roman" panose="02020603050405020304" pitchFamily="18" charset="0"/>
              </a:rPr>
              <a:t> &amp; </a:t>
            </a:r>
            <a:r>
              <a:rPr lang="en-US" sz="1800" b="0" dirty="0" err="1">
                <a:latin typeface="Times New Roman" panose="02020603050405020304" pitchFamily="18" charset="0"/>
                <a:cs typeface="Times New Roman" panose="02020603050405020304" pitchFamily="18" charset="0"/>
              </a:rPr>
              <a:t>Gaming_Time</a:t>
            </a:r>
            <a:endParaRPr lang="en-US" sz="1800" b="0" dirty="0">
              <a:latin typeface="Times New Roman" panose="02020603050405020304" pitchFamily="18" charset="0"/>
              <a:cs typeface="Times New Roman" panose="02020603050405020304" pitchFamily="18" charset="0"/>
            </a:endParaRPr>
          </a:p>
          <a:p>
            <a:pPr algn="just">
              <a:lnSpc>
                <a:spcPct val="150000"/>
              </a:lnSpc>
            </a:pPr>
            <a:r>
              <a:rPr lang="en-US" sz="1800" b="0" dirty="0" err="1">
                <a:latin typeface="Times New Roman" panose="02020603050405020304" pitchFamily="18" charset="0"/>
                <a:cs typeface="Times New Roman" panose="02020603050405020304" pitchFamily="18" charset="0"/>
              </a:rPr>
              <a:t>Emotional_Scores</a:t>
            </a:r>
            <a:r>
              <a:rPr lang="en-US" sz="1800" b="0" dirty="0">
                <a:latin typeface="Times New Roman" panose="02020603050405020304" pitchFamily="18" charset="0"/>
                <a:cs typeface="Times New Roman" panose="02020603050405020304" pitchFamily="18" charset="0"/>
              </a:rPr>
              <a:t> (Mood/Stress)</a:t>
            </a:r>
          </a:p>
          <a:p>
            <a:pPr algn="just">
              <a:lnSpc>
                <a:spcPct val="150000"/>
              </a:lnSpc>
            </a:pPr>
            <a:r>
              <a:rPr lang="en-US" sz="1800" b="0" dirty="0" err="1">
                <a:latin typeface="Times New Roman" panose="02020603050405020304" pitchFamily="18" charset="0"/>
                <a:cs typeface="Times New Roman" panose="02020603050405020304" pitchFamily="18" charset="0"/>
              </a:rPr>
              <a:t>Phantom_Check_Events</a:t>
            </a:r>
            <a:endParaRPr lang="en-US" sz="1800" b="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Derived Features</a:t>
            </a:r>
          </a:p>
          <a:p>
            <a:pPr algn="just">
              <a:lnSpc>
                <a:spcPct val="150000"/>
              </a:lnSpc>
            </a:pPr>
            <a:r>
              <a:rPr lang="en-US" sz="1800" b="0" dirty="0" err="1">
                <a:latin typeface="Times New Roman" panose="02020603050405020304" pitchFamily="18" charset="0"/>
                <a:cs typeface="Times New Roman" panose="02020603050405020304" pitchFamily="18" charset="0"/>
              </a:rPr>
              <a:t>Usage_Intensity</a:t>
            </a:r>
            <a:r>
              <a:rPr lang="en-US" sz="1800" b="0" dirty="0">
                <a:latin typeface="Times New Roman" panose="02020603050405020304" pitchFamily="18" charset="0"/>
                <a:cs typeface="Times New Roman" panose="02020603050405020304" pitchFamily="18" charset="0"/>
              </a:rPr>
              <a:t> (Screen Time / Unlocks)</a:t>
            </a:r>
          </a:p>
          <a:p>
            <a:pPr algn="just">
              <a:lnSpc>
                <a:spcPct val="150000"/>
              </a:lnSpc>
            </a:pPr>
            <a:r>
              <a:rPr lang="en-US" sz="1800" b="0" dirty="0" err="1">
                <a:latin typeface="Times New Roman" panose="02020603050405020304" pitchFamily="18" charset="0"/>
                <a:cs typeface="Times New Roman" panose="02020603050405020304" pitchFamily="18" charset="0"/>
              </a:rPr>
              <a:t>Dependency_Rate</a:t>
            </a:r>
            <a:r>
              <a:rPr lang="en-US" sz="1800" b="0" dirty="0">
                <a:latin typeface="Times New Roman" panose="02020603050405020304" pitchFamily="18" charset="0"/>
                <a:cs typeface="Times New Roman" panose="02020603050405020304" pitchFamily="18" charset="0"/>
              </a:rPr>
              <a:t> (Social Media / Total Time)</a:t>
            </a:r>
          </a:p>
          <a:p>
            <a:pPr algn="just">
              <a:lnSpc>
                <a:spcPct val="150000"/>
              </a:lnSpc>
            </a:pPr>
            <a:r>
              <a:rPr lang="en-US" sz="1800" b="0" dirty="0" err="1">
                <a:latin typeface="Times New Roman" panose="02020603050405020304" pitchFamily="18" charset="0"/>
                <a:cs typeface="Times New Roman" panose="02020603050405020304" pitchFamily="18" charset="0"/>
              </a:rPr>
              <a:t>Risk_Level</a:t>
            </a:r>
            <a:r>
              <a:rPr lang="en-US" sz="1800" b="0" dirty="0">
                <a:latin typeface="Times New Roman" panose="02020603050405020304" pitchFamily="18" charset="0"/>
                <a:cs typeface="Times New Roman" panose="02020603050405020304" pitchFamily="18" charset="0"/>
              </a:rPr>
              <a:t> (Target Variable: Safe, At-Risk, High-Risk)</a:t>
            </a:r>
          </a:p>
          <a:p>
            <a:pPr algn="just">
              <a:lnSpc>
                <a:spcPct val="150000"/>
              </a:lnSpc>
            </a:pPr>
            <a:endParaRPr lang="en-IN" sz="1800" b="0" dirty="0">
              <a:latin typeface="Times New Roman" panose="02020603050405020304" pitchFamily="18" charset="0"/>
              <a:cs typeface="Times New Roman" panose="02020603050405020304" pitchFamily="18" charset="0"/>
            </a:endParaRPr>
          </a:p>
        </p:txBody>
      </p:sp>
      <p:sp>
        <p:nvSpPr>
          <p:cNvPr id="5" name="object 7">
            <a:extLst>
              <a:ext uri="{FF2B5EF4-FFF2-40B4-BE49-F238E27FC236}">
                <a16:creationId xmlns:a16="http://schemas.microsoft.com/office/drawing/2014/main" id="{31CD8E10-286A-C052-C2EF-6F19C761FE03}"/>
              </a:ext>
            </a:extLst>
          </p:cNvPr>
          <p:cNvSpPr/>
          <p:nvPr/>
        </p:nvSpPr>
        <p:spPr>
          <a:xfrm>
            <a:off x="2874424" y="329245"/>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Feature Extraction</a:t>
            </a:r>
          </a:p>
          <a:p>
            <a:pPr algn="ctr"/>
            <a:endParaRPr sz="2200" dirty="0"/>
          </a:p>
        </p:txBody>
      </p:sp>
    </p:spTree>
    <p:extLst>
      <p:ext uri="{BB962C8B-B14F-4D97-AF65-F5344CB8AC3E}">
        <p14:creationId xmlns:p14="http://schemas.microsoft.com/office/powerpoint/2010/main" val="427383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207659EB-C986-D459-8CC4-4FF1566B38A6}"/>
              </a:ext>
            </a:extLst>
          </p:cNvPr>
          <p:cNvGrpSpPr/>
          <p:nvPr/>
        </p:nvGrpSpPr>
        <p:grpSpPr>
          <a:xfrm>
            <a:off x="2477248" y="89141"/>
            <a:ext cx="5103904" cy="1198311"/>
            <a:chOff x="2648188" y="47148"/>
            <a:chExt cx="5103904" cy="1198311"/>
          </a:xfrm>
        </p:grpSpPr>
        <p:pic>
          <p:nvPicPr>
            <p:cNvPr id="4" name="object 4">
              <a:extLst>
                <a:ext uri="{FF2B5EF4-FFF2-40B4-BE49-F238E27FC236}">
                  <a16:creationId xmlns:a16="http://schemas.microsoft.com/office/drawing/2014/main" id="{A0FCC093-7F86-0405-36E7-55FB5059A79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41032A9D-5975-4593-43E2-CBB90B70C81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79FAAA4-0DE4-D414-6FA4-A183363A3BD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C80AE527-6C48-CA73-C419-CEE21461EF2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TextBox 9">
            <a:extLst>
              <a:ext uri="{FF2B5EF4-FFF2-40B4-BE49-F238E27FC236}">
                <a16:creationId xmlns:a16="http://schemas.microsoft.com/office/drawing/2014/main" id="{C517586C-601E-0580-E76F-A35D73FF4DA9}"/>
              </a:ext>
            </a:extLst>
          </p:cNvPr>
          <p:cNvSpPr txBox="1"/>
          <p:nvPr/>
        </p:nvSpPr>
        <p:spPr>
          <a:xfrm>
            <a:off x="4178534" y="279294"/>
            <a:ext cx="1923674"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Methodologies</a:t>
            </a:r>
          </a:p>
        </p:txBody>
      </p:sp>
      <p:sp>
        <p:nvSpPr>
          <p:cNvPr id="11" name="TextBox 10">
            <a:extLst>
              <a:ext uri="{FF2B5EF4-FFF2-40B4-BE49-F238E27FC236}">
                <a16:creationId xmlns:a16="http://schemas.microsoft.com/office/drawing/2014/main" id="{87BA6307-86D1-5C12-5FF6-F44F83F81822}"/>
              </a:ext>
            </a:extLst>
          </p:cNvPr>
          <p:cNvSpPr txBox="1"/>
          <p:nvPr/>
        </p:nvSpPr>
        <p:spPr>
          <a:xfrm>
            <a:off x="762000" y="1203984"/>
            <a:ext cx="9067799" cy="5444054"/>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project uses a </a:t>
            </a:r>
            <a:r>
              <a:rPr lang="en-IN" b="1" dirty="0">
                <a:latin typeface="Times New Roman" panose="02020603050405020304" pitchFamily="18" charset="0"/>
                <a:cs typeface="Times New Roman" panose="02020603050405020304" pitchFamily="18" charset="0"/>
              </a:rPr>
              <a:t>Knowledge Discovery in Databases (KDD)</a:t>
            </a:r>
            <a:r>
              <a:rPr lang="en-IN" dirty="0">
                <a:latin typeface="Times New Roman" panose="02020603050405020304" pitchFamily="18" charset="0"/>
                <a:cs typeface="Times New Roman" panose="02020603050405020304" pitchFamily="18" charset="0"/>
              </a:rPr>
              <a:t> approach to predict digital addiction risk levels in students.</a:t>
            </a:r>
          </a:p>
          <a:p>
            <a:pPr algn="just">
              <a:lnSpc>
                <a:spcPct val="150000"/>
              </a:lnSpc>
            </a:pPr>
            <a:r>
              <a:rPr lang="en-IN" b="1" dirty="0">
                <a:latin typeface="Times New Roman" panose="02020603050405020304" pitchFamily="18" charset="0"/>
                <a:cs typeface="Times New Roman" panose="02020603050405020304" pitchFamily="18" charset="0"/>
              </a:rPr>
              <a:t>Data Integration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Sources:</a:t>
            </a:r>
            <a:r>
              <a:rPr lang="en-IN" dirty="0">
                <a:latin typeface="Times New Roman" panose="02020603050405020304" pitchFamily="18" charset="0"/>
                <a:cs typeface="Times New Roman" panose="02020603050405020304" pitchFamily="18" charset="0"/>
              </a:rPr>
              <a:t> Combined smartphone logs, app usage data, and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surveys.</a:t>
            </a:r>
          </a:p>
          <a:p>
            <a:pPr algn="just">
              <a:lnSpc>
                <a:spcPct val="150000"/>
              </a:lnSpc>
            </a:pPr>
            <a:r>
              <a:rPr lang="en-IN" b="1" dirty="0">
                <a:latin typeface="Times New Roman" panose="02020603050405020304" pitchFamily="18" charset="0"/>
                <a:cs typeface="Times New Roman" panose="02020603050405020304" pitchFamily="18" charset="0"/>
              </a:rPr>
              <a:t>Key Features:</a:t>
            </a:r>
            <a:r>
              <a:rPr lang="en-IN" dirty="0">
                <a:latin typeface="Times New Roman" panose="02020603050405020304" pitchFamily="18" charset="0"/>
                <a:cs typeface="Times New Roman" panose="02020603050405020304" pitchFamily="18" charset="0"/>
              </a:rPr>
              <a:t> Night usage, unlock counts, social media time, and emotional scores.</a:t>
            </a:r>
          </a:p>
          <a:p>
            <a:pPr algn="just">
              <a:lnSpc>
                <a:spcPct val="150000"/>
              </a:lnSpc>
            </a:pPr>
            <a:r>
              <a:rPr lang="en-IN" b="1" dirty="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Cleaning:</a:t>
            </a:r>
            <a:r>
              <a:rPr lang="en-IN" dirty="0">
                <a:latin typeface="Times New Roman" panose="02020603050405020304" pitchFamily="18" charset="0"/>
                <a:cs typeface="Times New Roman" panose="02020603050405020304" pitchFamily="18" charset="0"/>
              </a:rPr>
              <a:t> Handled missing values and removed duplicate records.</a:t>
            </a:r>
          </a:p>
          <a:p>
            <a:pPr algn="just">
              <a:lnSpc>
                <a:spcPct val="150000"/>
              </a:lnSpc>
            </a:pPr>
            <a:r>
              <a:rPr lang="en-IN" b="1" dirty="0">
                <a:latin typeface="Times New Roman" panose="02020603050405020304" pitchFamily="18" charset="0"/>
                <a:cs typeface="Times New Roman" panose="02020603050405020304" pitchFamily="18" charset="0"/>
              </a:rPr>
              <a:t>Refinement:</a:t>
            </a:r>
            <a:r>
              <a:rPr lang="en-IN" dirty="0">
                <a:latin typeface="Times New Roman" panose="02020603050405020304" pitchFamily="18" charset="0"/>
                <a:cs typeface="Times New Roman" panose="02020603050405020304" pitchFamily="18" charset="0"/>
              </a:rPr>
              <a:t> Performed String-to-Nominal conversion and Normalization for WEKA.</a:t>
            </a:r>
          </a:p>
          <a:p>
            <a:pPr algn="just">
              <a:lnSpc>
                <a:spcPct val="150000"/>
              </a:lnSpc>
            </a:pPr>
            <a:r>
              <a:rPr lang="en-IN" b="1" dirty="0">
                <a:latin typeface="Times New Roman" panose="02020603050405020304" pitchFamily="18" charset="0"/>
                <a:cs typeface="Times New Roman" panose="02020603050405020304" pitchFamily="18" charset="0"/>
              </a:rPr>
              <a:t>Data Mining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Classification (J48):</a:t>
            </a:r>
            <a:r>
              <a:rPr lang="en-IN" dirty="0">
                <a:latin typeface="Times New Roman" panose="02020603050405020304" pitchFamily="18" charset="0"/>
                <a:cs typeface="Times New Roman" panose="02020603050405020304" pitchFamily="18" charset="0"/>
              </a:rPr>
              <a:t> Predicts risk levels (</a:t>
            </a:r>
            <a:r>
              <a:rPr lang="en-IN" b="1" dirty="0">
                <a:latin typeface="Times New Roman" panose="02020603050405020304" pitchFamily="18" charset="0"/>
                <a:cs typeface="Times New Roman" panose="02020603050405020304" pitchFamily="18" charset="0"/>
              </a:rPr>
              <a:t>Safe, At-Risk, High-Risk</a:t>
            </a:r>
            <a:r>
              <a:rPr lang="en-IN" dirty="0">
                <a:latin typeface="Times New Roman" panose="02020603050405020304" pitchFamily="18" charset="0"/>
                <a:cs typeface="Times New Roman" panose="02020603050405020304" pitchFamily="18" charset="0"/>
              </a:rPr>
              <a:t>).</a:t>
            </a:r>
          </a:p>
          <a:p>
            <a:pPr algn="just">
              <a:lnSpc>
                <a:spcPct val="150000"/>
              </a:lnSpc>
            </a:pPr>
            <a:r>
              <a:rPr lang="en-IN" b="1" dirty="0">
                <a:latin typeface="Times New Roman" panose="02020603050405020304" pitchFamily="18" charset="0"/>
                <a:cs typeface="Times New Roman" panose="02020603050405020304" pitchFamily="18" charset="0"/>
              </a:rPr>
              <a:t>Clustering (K-Means):</a:t>
            </a:r>
            <a:r>
              <a:rPr lang="en-IN" dirty="0">
                <a:latin typeface="Times New Roman" panose="02020603050405020304" pitchFamily="18" charset="0"/>
                <a:cs typeface="Times New Roman" panose="02020603050405020304" pitchFamily="18" charset="0"/>
              </a:rPr>
              <a:t> Groups students by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habits and nocturnal patterns.</a:t>
            </a:r>
          </a:p>
          <a:p>
            <a:pPr algn="just">
              <a:lnSpc>
                <a:spcPct val="150000"/>
              </a:lnSpc>
            </a:pPr>
            <a:r>
              <a:rPr lang="en-IN" b="1" dirty="0">
                <a:latin typeface="Times New Roman" panose="02020603050405020304" pitchFamily="18" charset="0"/>
                <a:cs typeface="Times New Roman" panose="02020603050405020304" pitchFamily="18" charset="0"/>
              </a:rPr>
              <a:t>Association (</a:t>
            </a:r>
            <a:r>
              <a:rPr lang="en-IN" b="1" dirty="0" err="1">
                <a:latin typeface="Times New Roman" panose="02020603050405020304" pitchFamily="18" charset="0"/>
                <a:cs typeface="Times New Roman" panose="02020603050405020304" pitchFamily="18" charset="0"/>
              </a:rPr>
              <a:t>Apriori</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Links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like </a:t>
            </a:r>
            <a:r>
              <a:rPr lang="en-IN" b="1" dirty="0">
                <a:latin typeface="Times New Roman" panose="02020603050405020304" pitchFamily="18" charset="0"/>
                <a:cs typeface="Times New Roman" panose="02020603050405020304" pitchFamily="18" charset="0"/>
              </a:rPr>
              <a:t>Anxiety</a:t>
            </a:r>
            <a:r>
              <a:rPr lang="en-IN" dirty="0">
                <a:latin typeface="Times New Roman" panose="02020603050405020304" pitchFamily="18" charset="0"/>
                <a:cs typeface="Times New Roman" panose="02020603050405020304" pitchFamily="18" charset="0"/>
              </a:rPr>
              <a:t> with </a:t>
            </a:r>
            <a:r>
              <a:rPr lang="en-IN" b="1" dirty="0">
                <a:latin typeface="Times New Roman" panose="02020603050405020304" pitchFamily="18" charset="0"/>
                <a:cs typeface="Times New Roman" panose="02020603050405020304" pitchFamily="18" charset="0"/>
              </a:rPr>
              <a:t>Phantom Phone Checks</a:t>
            </a:r>
            <a:r>
              <a:rPr lang="en-IN" dirty="0">
                <a:latin typeface="Times New Roman" panose="02020603050405020304" pitchFamily="18" charset="0"/>
                <a:cs typeface="Times New Roman" panose="02020603050405020304" pitchFamily="18" charset="0"/>
              </a:rPr>
              <a:t>.</a:t>
            </a:r>
          </a:p>
          <a:p>
            <a:pPr algn="just">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1600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308C-34C3-7B6C-C27F-D35EB9C3CED0}"/>
              </a:ext>
            </a:extLst>
          </p:cNvPr>
          <p:cNvSpPr>
            <a:spLocks noGrp="1"/>
          </p:cNvSpPr>
          <p:nvPr>
            <p:ph type="title"/>
          </p:nvPr>
        </p:nvSpPr>
        <p:spPr/>
        <p:txBody>
          <a:bodyPr/>
          <a:lstStyle/>
          <a:p>
            <a:endParaRPr lang="en-IN" dirty="0"/>
          </a:p>
        </p:txBody>
      </p:sp>
      <p:grpSp>
        <p:nvGrpSpPr>
          <p:cNvPr id="4" name="object 3">
            <a:extLst>
              <a:ext uri="{FF2B5EF4-FFF2-40B4-BE49-F238E27FC236}">
                <a16:creationId xmlns:a16="http://schemas.microsoft.com/office/drawing/2014/main" id="{DCB373ED-B412-5729-5DA4-D220058B8FEF}"/>
              </a:ext>
            </a:extLst>
          </p:cNvPr>
          <p:cNvGrpSpPr/>
          <p:nvPr/>
        </p:nvGrpSpPr>
        <p:grpSpPr>
          <a:xfrm>
            <a:off x="2895600" y="464417"/>
            <a:ext cx="5103904" cy="1198311"/>
            <a:chOff x="2648188" y="47148"/>
            <a:chExt cx="5103904" cy="1198311"/>
          </a:xfrm>
        </p:grpSpPr>
        <p:pic>
          <p:nvPicPr>
            <p:cNvPr id="5" name="object 4">
              <a:extLst>
                <a:ext uri="{FF2B5EF4-FFF2-40B4-BE49-F238E27FC236}">
                  <a16:creationId xmlns:a16="http://schemas.microsoft.com/office/drawing/2014/main" id="{C089C78B-BF3D-157E-1714-DF3FFEDBED2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483B2C60-9F7C-E513-3988-49B3D0A403A8}"/>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81ADF35B-35A4-4A05-DC24-FBD146FD327E}"/>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894EC65-01B3-A7DD-6C99-4FFA3A132B6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Data Preprocessing</a:t>
              </a:r>
            </a:p>
            <a:p>
              <a:pPr algn="ctr"/>
              <a:endParaRPr sz="2200" dirty="0"/>
            </a:p>
          </p:txBody>
        </p:sp>
      </p:grpSp>
      <p:sp>
        <p:nvSpPr>
          <p:cNvPr id="11" name="TextBox 10">
            <a:extLst>
              <a:ext uri="{FF2B5EF4-FFF2-40B4-BE49-F238E27FC236}">
                <a16:creationId xmlns:a16="http://schemas.microsoft.com/office/drawing/2014/main" id="{750322D6-796D-F80A-4A71-C6C8A95B8E0A}"/>
              </a:ext>
            </a:extLst>
          </p:cNvPr>
          <p:cNvSpPr txBox="1"/>
          <p:nvPr/>
        </p:nvSpPr>
        <p:spPr>
          <a:xfrm>
            <a:off x="762000" y="1552578"/>
            <a:ext cx="8915401" cy="5444054"/>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Data Cleaning:</a:t>
            </a:r>
          </a:p>
          <a:p>
            <a:pPr algn="just">
              <a:lnSpc>
                <a:spcPct val="150000"/>
              </a:lnSpc>
            </a:pPr>
            <a:r>
              <a:rPr lang="en-US" dirty="0">
                <a:latin typeface="Times New Roman" panose="02020603050405020304" pitchFamily="18" charset="0"/>
                <a:cs typeface="Times New Roman" panose="02020603050405020304" pitchFamily="18" charset="0"/>
              </a:rPr>
              <a:t> * Handle missing values (e.g., imputation, interpolation).</a:t>
            </a:r>
          </a:p>
          <a:p>
            <a:pPr algn="just">
              <a:lnSpc>
                <a:spcPct val="150000"/>
              </a:lnSpc>
            </a:pPr>
            <a:r>
              <a:rPr lang="en-US" dirty="0">
                <a:latin typeface="Times New Roman" panose="02020603050405020304" pitchFamily="18" charset="0"/>
                <a:cs typeface="Times New Roman" panose="02020603050405020304" pitchFamily="18" charset="0"/>
              </a:rPr>
              <a:t>Remove duplicates and irrelevant data.</a:t>
            </a:r>
          </a:p>
          <a:p>
            <a:pPr algn="just">
              <a:lnSpc>
                <a:spcPct val="150000"/>
              </a:lnSpc>
            </a:pPr>
            <a:r>
              <a:rPr lang="en-US" dirty="0">
                <a:latin typeface="Times New Roman" panose="02020603050405020304" pitchFamily="18" charset="0"/>
                <a:cs typeface="Times New Roman" panose="02020603050405020304" pitchFamily="18" charset="0"/>
              </a:rPr>
              <a:t>Correct errors and inconsistencies.</a:t>
            </a:r>
          </a:p>
          <a:p>
            <a:pPr algn="just">
              <a:lnSpc>
                <a:spcPct val="150000"/>
              </a:lnSpc>
            </a:pPr>
            <a:r>
              <a:rPr lang="en-US" b="1" dirty="0">
                <a:latin typeface="Times New Roman" panose="02020603050405020304" pitchFamily="18" charset="0"/>
                <a:cs typeface="Times New Roman" panose="02020603050405020304" pitchFamily="18" charset="0"/>
              </a:rPr>
              <a:t>Data Transformation:</a:t>
            </a:r>
          </a:p>
          <a:p>
            <a:pPr algn="just">
              <a:lnSpc>
                <a:spcPct val="150000"/>
              </a:lnSpc>
            </a:pPr>
            <a:r>
              <a:rPr lang="en-US" b="1" dirty="0">
                <a:latin typeface="Times New Roman" panose="02020603050405020304" pitchFamily="18" charset="0"/>
                <a:cs typeface="Times New Roman" panose="02020603050405020304" pitchFamily="18" charset="0"/>
              </a:rPr>
              <a:t>Normalization: </a:t>
            </a:r>
            <a:r>
              <a:rPr lang="en-US" dirty="0">
                <a:latin typeface="Times New Roman" panose="02020603050405020304" pitchFamily="18" charset="0"/>
                <a:cs typeface="Times New Roman" panose="02020603050405020304" pitchFamily="18" charset="0"/>
              </a:rPr>
              <a:t>Scale numeric values to a common range (e.g., 0-1).</a:t>
            </a:r>
          </a:p>
          <a:p>
            <a:pPr algn="just">
              <a:lnSpc>
                <a:spcPct val="150000"/>
              </a:lnSpc>
            </a:pPr>
            <a:r>
              <a:rPr lang="en-US" b="1" dirty="0">
                <a:latin typeface="Times New Roman" panose="02020603050405020304" pitchFamily="18" charset="0"/>
                <a:cs typeface="Times New Roman" panose="02020603050405020304" pitchFamily="18" charset="0"/>
              </a:rPr>
              <a:t>Aggregation: </a:t>
            </a:r>
            <a:r>
              <a:rPr lang="en-US" dirty="0">
                <a:latin typeface="Times New Roman" panose="02020603050405020304" pitchFamily="18" charset="0"/>
                <a:cs typeface="Times New Roman" panose="02020603050405020304" pitchFamily="18" charset="0"/>
              </a:rPr>
              <a:t>Combine data into meaningful groups.</a:t>
            </a:r>
          </a:p>
          <a:p>
            <a:pPr algn="just">
              <a:lnSpc>
                <a:spcPct val="150000"/>
              </a:lnSpc>
            </a:pPr>
            <a:r>
              <a:rPr lang="en-US" b="1" dirty="0">
                <a:latin typeface="Times New Roman" panose="02020603050405020304" pitchFamily="18" charset="0"/>
                <a:cs typeface="Times New Roman" panose="02020603050405020304" pitchFamily="18" charset="0"/>
              </a:rPr>
              <a:t>Discretization: </a:t>
            </a:r>
            <a:r>
              <a:rPr lang="en-US" dirty="0">
                <a:latin typeface="Times New Roman" panose="02020603050405020304" pitchFamily="18" charset="0"/>
                <a:cs typeface="Times New Roman" panose="02020603050405020304" pitchFamily="18" charset="0"/>
              </a:rPr>
              <a:t>Convert continuous values to discrete intervals.</a:t>
            </a:r>
          </a:p>
          <a:p>
            <a:pPr algn="just">
              <a:lnSpc>
                <a:spcPct val="150000"/>
              </a:lnSpc>
            </a:pPr>
            <a:r>
              <a:rPr lang="en-US" b="1" dirty="0">
                <a:latin typeface="Times New Roman" panose="02020603050405020304" pitchFamily="18" charset="0"/>
                <a:cs typeface="Times New Roman" panose="02020603050405020304" pitchFamily="18" charset="0"/>
              </a:rPr>
              <a:t>Data Reduction:</a:t>
            </a:r>
          </a:p>
          <a:p>
            <a:pPr algn="just">
              <a:lnSpc>
                <a:spcPct val="150000"/>
              </a:lnSpc>
            </a:pPr>
            <a:r>
              <a:rPr lang="en-US" dirty="0">
                <a:latin typeface="Times New Roman" panose="02020603050405020304" pitchFamily="18" charset="0"/>
                <a:cs typeface="Times New Roman" panose="02020603050405020304" pitchFamily="18" charset="0"/>
              </a:rPr>
              <a:t>Dimensionality reduction (e.g., PCA, feature selection).</a:t>
            </a:r>
          </a:p>
          <a:p>
            <a:pPr algn="just">
              <a:lnSpc>
                <a:spcPct val="150000"/>
              </a:lnSpc>
            </a:pPr>
            <a:r>
              <a:rPr lang="en-US" b="1" dirty="0">
                <a:latin typeface="Times New Roman" panose="02020603050405020304" pitchFamily="18" charset="0"/>
                <a:cs typeface="Times New Roman" panose="02020603050405020304" pitchFamily="18" charset="0"/>
              </a:rPr>
              <a:t>Data sampling: </a:t>
            </a:r>
            <a:r>
              <a:rPr lang="en-US" dirty="0">
                <a:latin typeface="Times New Roman" panose="02020603050405020304" pitchFamily="18" charset="0"/>
                <a:cs typeface="Times New Roman" panose="02020603050405020304" pitchFamily="18" charset="0"/>
              </a:rPr>
              <a:t>Select a representative subset of data.</a:t>
            </a:r>
          </a:p>
          <a:p>
            <a:pPr algn="just">
              <a:lnSpc>
                <a:spcPct val="150000"/>
              </a:lnSpc>
            </a:pPr>
            <a:r>
              <a:rPr lang="en-US" b="1" dirty="0">
                <a:latin typeface="Times New Roman" panose="02020603050405020304" pitchFamily="18" charset="0"/>
                <a:cs typeface="Times New Roman" panose="02020603050405020304" pitchFamily="18" charset="0"/>
              </a:rPr>
              <a:t>Data Discretization:</a:t>
            </a:r>
          </a:p>
          <a:p>
            <a:pPr algn="just">
              <a:lnSpc>
                <a:spcPct val="150000"/>
              </a:lnSpc>
            </a:pPr>
            <a:r>
              <a:rPr lang="en-US" dirty="0">
                <a:latin typeface="Times New Roman" panose="02020603050405020304" pitchFamily="18" charset="0"/>
                <a:cs typeface="Times New Roman" panose="02020603050405020304" pitchFamily="18" charset="0"/>
              </a:rPr>
              <a:t>Convert continuous attributes to categorical values.</a:t>
            </a:r>
          </a:p>
        </p:txBody>
      </p:sp>
    </p:spTree>
    <p:extLst>
      <p:ext uri="{BB962C8B-B14F-4D97-AF65-F5344CB8AC3E}">
        <p14:creationId xmlns:p14="http://schemas.microsoft.com/office/powerpoint/2010/main" val="150735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73076F-4177-9F43-B604-48A4D48A77C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3" name="object 3">
            <a:extLst>
              <a:ext uri="{FF2B5EF4-FFF2-40B4-BE49-F238E27FC236}">
                <a16:creationId xmlns:a16="http://schemas.microsoft.com/office/drawing/2014/main" id="{BC608530-1BC9-2F56-7695-00D1305DBE4B}"/>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615A3BFD-DFEF-74AF-22A6-BCC0B6FB192B}"/>
              </a:ext>
            </a:extLst>
          </p:cNvPr>
          <p:cNvGrpSpPr/>
          <p:nvPr/>
        </p:nvGrpSpPr>
        <p:grpSpPr>
          <a:xfrm>
            <a:off x="2667000" y="29493"/>
            <a:ext cx="5103904" cy="1198311"/>
            <a:chOff x="2648188" y="47148"/>
            <a:chExt cx="5103904" cy="1198311"/>
          </a:xfrm>
        </p:grpSpPr>
        <p:pic>
          <p:nvPicPr>
            <p:cNvPr id="5" name="object 4">
              <a:extLst>
                <a:ext uri="{FF2B5EF4-FFF2-40B4-BE49-F238E27FC236}">
                  <a16:creationId xmlns:a16="http://schemas.microsoft.com/office/drawing/2014/main" id="{83D66381-FA6C-9576-C3BB-E422CD305839}"/>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0A0DC69-A78F-4323-C18B-DF831B83B636}"/>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E35C9B4-EA1C-F542-15F0-079EFAFE5B0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A2F0657-F4EA-714B-2BC9-C4888F91409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TextBox 8">
            <a:extLst>
              <a:ext uri="{FF2B5EF4-FFF2-40B4-BE49-F238E27FC236}">
                <a16:creationId xmlns:a16="http://schemas.microsoft.com/office/drawing/2014/main" id="{684DECD3-17DF-D19A-8F46-B4FA9D3FE8A2}"/>
              </a:ext>
            </a:extLst>
          </p:cNvPr>
          <p:cNvSpPr txBox="1"/>
          <p:nvPr/>
        </p:nvSpPr>
        <p:spPr>
          <a:xfrm>
            <a:off x="4178534" y="279294"/>
            <a:ext cx="2298466" cy="400110"/>
          </a:xfrm>
          <a:prstGeom prst="rect">
            <a:avLst/>
          </a:prstGeom>
          <a:noFill/>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D</a:t>
            </a:r>
            <a:r>
              <a:rPr lang="en-IN" sz="2000" b="1" dirty="0" err="1">
                <a:solidFill>
                  <a:schemeClr val="bg1"/>
                </a:solidFill>
                <a:latin typeface="Times New Roman" panose="02020603050405020304" pitchFamily="18" charset="0"/>
                <a:cs typeface="Times New Roman" panose="02020603050405020304" pitchFamily="18" charset="0"/>
              </a:rPr>
              <a:t>ata</a:t>
            </a:r>
            <a:r>
              <a:rPr lang="en-IN" sz="2000" b="1" dirty="0">
                <a:solidFill>
                  <a:schemeClr val="bg1"/>
                </a:solidFill>
                <a:latin typeface="Times New Roman" panose="02020603050405020304" pitchFamily="18" charset="0"/>
                <a:cs typeface="Times New Roman" panose="02020603050405020304" pitchFamily="18" charset="0"/>
              </a:rPr>
              <a:t> Preprocessing</a:t>
            </a:r>
          </a:p>
        </p:txBody>
      </p:sp>
      <p:sp>
        <p:nvSpPr>
          <p:cNvPr id="10" name="TextBox 9">
            <a:extLst>
              <a:ext uri="{FF2B5EF4-FFF2-40B4-BE49-F238E27FC236}">
                <a16:creationId xmlns:a16="http://schemas.microsoft.com/office/drawing/2014/main" id="{71809482-03DB-217A-8FBE-7DB3C3BF9196}"/>
              </a:ext>
            </a:extLst>
          </p:cNvPr>
          <p:cNvSpPr txBox="1"/>
          <p:nvPr/>
        </p:nvSpPr>
        <p:spPr>
          <a:xfrm>
            <a:off x="1672426" y="1676400"/>
            <a:ext cx="6096000" cy="150810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Handling missing values:</a:t>
            </a:r>
          </a:p>
          <a:p>
            <a:r>
              <a:rPr lang="en-IN" dirty="0">
                <a:latin typeface="Times New Roman" panose="02020603050405020304" pitchFamily="18" charset="0"/>
                <a:cs typeface="Times New Roman" panose="02020603050405020304" pitchFamily="18" charset="0"/>
              </a:rPr>
              <a:t>Mean/Median imputation</a:t>
            </a:r>
          </a:p>
          <a:p>
            <a:r>
              <a:rPr lang="en-IN" dirty="0">
                <a:latin typeface="Times New Roman" panose="02020603050405020304" pitchFamily="18" charset="0"/>
                <a:cs typeface="Times New Roman" panose="02020603050405020304" pitchFamily="18" charset="0"/>
              </a:rPr>
              <a:t>Regression imputation</a:t>
            </a:r>
          </a:p>
          <a:p>
            <a:r>
              <a:rPr lang="en-IN" dirty="0">
                <a:latin typeface="Times New Roman" panose="02020603050405020304" pitchFamily="18" charset="0"/>
                <a:cs typeface="Times New Roman" panose="02020603050405020304" pitchFamily="18" charset="0"/>
              </a:rPr>
              <a:t>K-Nearest </a:t>
            </a:r>
            <a:r>
              <a:rPr lang="en-IN" dirty="0" err="1">
                <a:latin typeface="Times New Roman" panose="02020603050405020304" pitchFamily="18" charset="0"/>
                <a:cs typeface="Times New Roman" panose="02020603050405020304" pitchFamily="18" charset="0"/>
              </a:rPr>
              <a:t>Neighbors</a:t>
            </a:r>
            <a:r>
              <a:rPr lang="en-IN" dirty="0">
                <a:latin typeface="Times New Roman" panose="02020603050405020304" pitchFamily="18" charset="0"/>
                <a:cs typeface="Times New Roman" panose="02020603050405020304" pitchFamily="18" charset="0"/>
              </a:rPr>
              <a:t> (KNN) imputation</a:t>
            </a:r>
          </a:p>
          <a:p>
            <a:r>
              <a:rPr lang="en-IN" dirty="0">
                <a:latin typeface="Times New Roman" panose="02020603050405020304" pitchFamily="18" charset="0"/>
                <a:cs typeface="Times New Roman" panose="02020603050405020304" pitchFamily="18" charset="0"/>
              </a:rPr>
              <a:t>Replacing with user constant</a:t>
            </a:r>
          </a:p>
        </p:txBody>
      </p:sp>
      <p:pic>
        <p:nvPicPr>
          <p:cNvPr id="11" name="Picture 10">
            <a:extLst>
              <a:ext uri="{FF2B5EF4-FFF2-40B4-BE49-F238E27FC236}">
                <a16:creationId xmlns:a16="http://schemas.microsoft.com/office/drawing/2014/main" id="{D379A9CC-CE2E-0C38-2C59-44F4D1C267AA}"/>
              </a:ext>
            </a:extLst>
          </p:cNvPr>
          <p:cNvPicPr>
            <a:picLocks noChangeAspect="1"/>
          </p:cNvPicPr>
          <p:nvPr/>
        </p:nvPicPr>
        <p:blipFill>
          <a:blip r:embed="rId6"/>
          <a:stretch>
            <a:fillRect/>
          </a:stretch>
        </p:blipFill>
        <p:spPr>
          <a:xfrm>
            <a:off x="1600200" y="3962400"/>
            <a:ext cx="6544588" cy="2972215"/>
          </a:xfrm>
          <a:prstGeom prst="rect">
            <a:avLst/>
          </a:prstGeom>
        </p:spPr>
      </p:pic>
    </p:spTree>
    <p:extLst>
      <p:ext uri="{BB962C8B-B14F-4D97-AF65-F5344CB8AC3E}">
        <p14:creationId xmlns:p14="http://schemas.microsoft.com/office/powerpoint/2010/main" val="1626336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407F-6273-0AA2-1C09-F9BDDEA7EEA3}"/>
              </a:ext>
            </a:extLst>
          </p:cNvPr>
          <p:cNvSpPr>
            <a:spLocks noGrp="1"/>
          </p:cNvSpPr>
          <p:nvPr>
            <p:ph type="title"/>
          </p:nvPr>
        </p:nvSpPr>
        <p:spPr>
          <a:xfrm>
            <a:off x="3831430" y="533400"/>
            <a:ext cx="2528570" cy="515085"/>
          </a:xfrm>
        </p:spPr>
        <p:txBody>
          <a:bodyPr/>
          <a:lstStyle/>
          <a:p>
            <a:r>
              <a:rPr lang="en-US" dirty="0"/>
              <a:t>CLUSTERING</a:t>
            </a:r>
            <a:endParaRPr lang="en-IN" dirty="0"/>
          </a:p>
        </p:txBody>
      </p:sp>
      <p:sp>
        <p:nvSpPr>
          <p:cNvPr id="3" name="Text Placeholder 2">
            <a:extLst>
              <a:ext uri="{FF2B5EF4-FFF2-40B4-BE49-F238E27FC236}">
                <a16:creationId xmlns:a16="http://schemas.microsoft.com/office/drawing/2014/main" id="{3A0A8D9F-1DB4-91A6-7753-DF26525D6F95}"/>
              </a:ext>
            </a:extLst>
          </p:cNvPr>
          <p:cNvSpPr>
            <a:spLocks noGrp="1"/>
          </p:cNvSpPr>
          <p:nvPr>
            <p:ph type="body" idx="1"/>
          </p:nvPr>
        </p:nvSpPr>
        <p:spPr>
          <a:xfrm>
            <a:off x="914400" y="1606901"/>
            <a:ext cx="8305800" cy="6182718"/>
          </a:xfrm>
        </p:spPr>
        <p:txBody>
          <a:bodyPr/>
          <a:lstStyle/>
          <a:p>
            <a:pPr algn="just">
              <a:lnSpc>
                <a:spcPct val="150000"/>
              </a:lnSpc>
            </a:pPr>
            <a:r>
              <a:rPr lang="en-US" sz="1800" b="0" dirty="0">
                <a:latin typeface="Times New Roman" panose="02020603050405020304" pitchFamily="18" charset="0"/>
                <a:cs typeface="Times New Roman" panose="02020603050405020304" pitchFamily="18" charset="0"/>
              </a:rPr>
              <a:t>Clustering is a data mining technique used to identify behavioral patterns by grouping similar data objects without predefined labels.</a:t>
            </a:r>
          </a:p>
          <a:p>
            <a:pPr algn="just">
              <a:lnSpc>
                <a:spcPct val="150000"/>
              </a:lnSpc>
            </a:pPr>
            <a:r>
              <a:rPr lang="en-US" sz="1800" b="0" dirty="0">
                <a:latin typeface="Times New Roman" panose="02020603050405020304" pitchFamily="18" charset="0"/>
                <a:cs typeface="Times New Roman" panose="02020603050405020304" pitchFamily="18" charset="0"/>
              </a:rPr>
              <a:t>In this project, clustering is applied to group students based on their digital usage habits and potential addiction indicators.</a:t>
            </a:r>
          </a:p>
          <a:p>
            <a:pPr algn="just">
              <a:lnSpc>
                <a:spcPct val="150000"/>
              </a:lnSpc>
            </a:pPr>
            <a:r>
              <a:rPr lang="en-US" sz="1800" dirty="0">
                <a:latin typeface="Times New Roman" panose="02020603050405020304" pitchFamily="18" charset="0"/>
                <a:cs typeface="Times New Roman" panose="02020603050405020304" pitchFamily="18" charset="0"/>
              </a:rPr>
              <a:t>Algorithms Used</a:t>
            </a:r>
          </a:p>
          <a:p>
            <a:pPr algn="just">
              <a:lnSpc>
                <a:spcPct val="150000"/>
              </a:lnSpc>
            </a:pPr>
            <a:r>
              <a:rPr lang="en-US" sz="1800" b="0" dirty="0">
                <a:latin typeface="Times New Roman" panose="02020603050405020304" pitchFamily="18" charset="0"/>
                <a:cs typeface="Times New Roman" panose="02020603050405020304" pitchFamily="18" charset="0"/>
              </a:rPr>
              <a:t>SimpleKMeans Clustering: An unsupervised Machine Learning algorithm used to group students into distinct clusters based on behavioral features.</a:t>
            </a:r>
          </a:p>
          <a:p>
            <a:pPr algn="just">
              <a:lnSpc>
                <a:spcPct val="150000"/>
              </a:lnSpc>
            </a:pPr>
            <a:r>
              <a:rPr lang="en-US" sz="1800" dirty="0">
                <a:latin typeface="Times New Roman" panose="02020603050405020304" pitchFamily="18" charset="0"/>
                <a:cs typeface="Times New Roman" panose="02020603050405020304" pitchFamily="18" charset="0"/>
              </a:rPr>
              <a:t>Purpose</a:t>
            </a:r>
          </a:p>
          <a:p>
            <a:pPr algn="just">
              <a:lnSpc>
                <a:spcPct val="150000"/>
              </a:lnSpc>
            </a:pPr>
            <a:r>
              <a:rPr lang="en-US" sz="1800" b="0" dirty="0">
                <a:latin typeface="Times New Roman" panose="02020603050405020304" pitchFamily="18" charset="0"/>
                <a:cs typeface="Times New Roman" panose="02020603050405020304" pitchFamily="18" charset="0"/>
              </a:rPr>
              <a:t>Identify hidden patterns in student digital behavior.</a:t>
            </a:r>
          </a:p>
          <a:p>
            <a:pPr algn="just">
              <a:lnSpc>
                <a:spcPct val="150000"/>
              </a:lnSpc>
            </a:pPr>
            <a:r>
              <a:rPr lang="en-US" sz="1800" b="0" dirty="0">
                <a:latin typeface="Times New Roman" panose="02020603050405020304" pitchFamily="18" charset="0"/>
                <a:cs typeface="Times New Roman" panose="02020603050405020304" pitchFamily="18" charset="0"/>
              </a:rPr>
              <a:t>Group users with similar risk profiles (e.g., Healthy vs. Addicted).</a:t>
            </a:r>
          </a:p>
          <a:p>
            <a:pPr algn="just">
              <a:lnSpc>
                <a:spcPct val="150000"/>
              </a:lnSpc>
            </a:pPr>
            <a:r>
              <a:rPr lang="en-US" sz="1800" b="0" dirty="0">
                <a:latin typeface="Times New Roman" panose="02020603050405020304" pitchFamily="18" charset="0"/>
                <a:cs typeface="Times New Roman" panose="02020603050405020304" pitchFamily="18" charset="0"/>
              </a:rPr>
              <a:t>Analyze trends in nocturnal usage and social media dependency.</a:t>
            </a:r>
          </a:p>
          <a:p>
            <a:pPr algn="just">
              <a:lnSpc>
                <a:spcPct val="150000"/>
              </a:lnSpc>
            </a:pPr>
            <a:r>
              <a:rPr lang="en-US" sz="1800" dirty="0">
                <a:latin typeface="Times New Roman" panose="02020603050405020304" pitchFamily="18" charset="0"/>
                <a:cs typeface="Times New Roman" panose="02020603050405020304" pitchFamily="18" charset="0"/>
              </a:rPr>
              <a:t>Example</a:t>
            </a:r>
            <a:r>
              <a:rPr lang="en-US" sz="1800" b="0" dirty="0">
                <a:latin typeface="Times New Roman" panose="02020603050405020304" pitchFamily="18" charset="0"/>
                <a:cs typeface="Times New Roman" panose="02020603050405020304" pitchFamily="18" charset="0"/>
              </a:rPr>
              <a:t> Students with high </a:t>
            </a:r>
            <a:r>
              <a:rPr lang="en-US" sz="1800" b="0" dirty="0" err="1">
                <a:latin typeface="Times New Roman" panose="02020603050405020304" pitchFamily="18" charset="0"/>
                <a:cs typeface="Times New Roman" panose="02020603050405020304" pitchFamily="18" charset="0"/>
              </a:rPr>
              <a:t>Night_,Usage</a:t>
            </a:r>
            <a:r>
              <a:rPr lang="en-US" sz="1800" b="0" dirty="0">
                <a:latin typeface="Times New Roman" panose="02020603050405020304" pitchFamily="18" charset="0"/>
                <a:cs typeface="Times New Roman" panose="02020603050405020304" pitchFamily="18" charset="0"/>
              </a:rPr>
              <a:t> high </a:t>
            </a:r>
            <a:r>
              <a:rPr lang="en-US" sz="1800" b="0" dirty="0" err="1">
                <a:latin typeface="Times New Roman" panose="02020603050405020304" pitchFamily="18" charset="0"/>
                <a:cs typeface="Times New Roman" panose="02020603050405020304" pitchFamily="18" charset="0"/>
              </a:rPr>
              <a:t>Unlock_Counts</a:t>
            </a:r>
            <a:r>
              <a:rPr lang="en-US" sz="1800" b="0" dirty="0">
                <a:latin typeface="Times New Roman" panose="02020603050405020304" pitchFamily="18" charset="0"/>
                <a:cs typeface="Times New Roman" panose="02020603050405020304" pitchFamily="18" charset="0"/>
              </a:rPr>
              <a:t>, and frequent </a:t>
            </a:r>
            <a:r>
              <a:rPr lang="en-US" sz="1800" b="0" dirty="0" err="1">
                <a:latin typeface="Times New Roman" panose="02020603050405020304" pitchFamily="18" charset="0"/>
                <a:cs typeface="Times New Roman" panose="02020603050405020304" pitchFamily="18" charset="0"/>
              </a:rPr>
              <a:t>Phantom_Checks</a:t>
            </a:r>
            <a:r>
              <a:rPr lang="en-US" sz="1800" b="0" dirty="0">
                <a:latin typeface="Times New Roman" panose="02020603050405020304" pitchFamily="18" charset="0"/>
                <a:cs typeface="Times New Roman" panose="02020603050405020304" pitchFamily="18" charset="0"/>
              </a:rPr>
              <a:t> are grouped into one cluster, while those with balanced usage form another.</a:t>
            </a:r>
          </a:p>
          <a:p>
            <a:pPr algn="just">
              <a:lnSpc>
                <a:spcPct val="150000"/>
              </a:lnSpc>
            </a:pPr>
            <a:endParaRPr lang="en-IN" sz="1800" b="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A00A9C-66DE-6F8D-61C2-8254D7FBB1A9}"/>
              </a:ext>
            </a:extLst>
          </p:cNvPr>
          <p:cNvPicPr>
            <a:picLocks noChangeAspect="1"/>
          </p:cNvPicPr>
          <p:nvPr/>
        </p:nvPicPr>
        <p:blipFill>
          <a:blip r:embed="rId2"/>
          <a:stretch>
            <a:fillRect/>
          </a:stretch>
        </p:blipFill>
        <p:spPr>
          <a:xfrm>
            <a:off x="2277507" y="136126"/>
            <a:ext cx="5105400" cy="1470776"/>
          </a:xfrm>
          <a:prstGeom prst="rect">
            <a:avLst/>
          </a:prstGeom>
        </p:spPr>
      </p:pic>
      <p:sp>
        <p:nvSpPr>
          <p:cNvPr id="5" name="TextBox 4">
            <a:extLst>
              <a:ext uri="{FF2B5EF4-FFF2-40B4-BE49-F238E27FC236}">
                <a16:creationId xmlns:a16="http://schemas.microsoft.com/office/drawing/2014/main" id="{822423A7-ACAD-D49B-7C94-1477E9142C39}"/>
              </a:ext>
            </a:extLst>
          </p:cNvPr>
          <p:cNvSpPr txBox="1"/>
          <p:nvPr/>
        </p:nvSpPr>
        <p:spPr>
          <a:xfrm>
            <a:off x="4038600" y="486272"/>
            <a:ext cx="2895600"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Clustering</a:t>
            </a:r>
            <a:endParaRPr lang="en-IN" sz="20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0543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D95B-758D-465E-74FF-5ECD57DB2F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92F86B7-A241-7D1C-4D7F-C1A70102858D}"/>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AB02C6BE-083D-653B-0B98-D55B2438D9EE}"/>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7BD7E0AC-901D-87F0-0BAB-5E5E42287DA7}"/>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Clustering</a:t>
            </a:r>
            <a:endParaRPr lang="en-IN" sz="2000" dirty="0">
              <a:effectLst/>
            </a:endParaRPr>
          </a:p>
        </p:txBody>
      </p:sp>
      <p:sp>
        <p:nvSpPr>
          <p:cNvPr id="2" name="TextBox 1">
            <a:extLst>
              <a:ext uri="{FF2B5EF4-FFF2-40B4-BE49-F238E27FC236}">
                <a16:creationId xmlns:a16="http://schemas.microsoft.com/office/drawing/2014/main" id="{EE57E39B-A700-D0CA-64C5-74B9D0F5803F}"/>
              </a:ext>
            </a:extLst>
          </p:cNvPr>
          <p:cNvSpPr txBox="1"/>
          <p:nvPr/>
        </p:nvSpPr>
        <p:spPr>
          <a:xfrm>
            <a:off x="914400" y="986532"/>
            <a:ext cx="6324600"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Benefits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Early Detection:</a:t>
            </a:r>
            <a:r>
              <a:rPr lang="en-US" dirty="0">
                <a:latin typeface="Times New Roman" panose="02020603050405020304" pitchFamily="18" charset="0"/>
                <a:cs typeface="Times New Roman" panose="02020603050405020304" pitchFamily="18" charset="0"/>
              </a:rPr>
              <a:t> Identifies addiction markers before they become severe.</a:t>
            </a:r>
          </a:p>
          <a:p>
            <a:r>
              <a:rPr lang="en-US" b="1" dirty="0">
                <a:latin typeface="Times New Roman" panose="02020603050405020304" pitchFamily="18" charset="0"/>
                <a:cs typeface="Times New Roman" panose="02020603050405020304" pitchFamily="18" charset="0"/>
              </a:rPr>
              <a:t>Behavioral Awareness:</a:t>
            </a:r>
            <a:r>
              <a:rPr lang="en-US" dirty="0">
                <a:latin typeface="Times New Roman" panose="02020603050405020304" pitchFamily="18" charset="0"/>
                <a:cs typeface="Times New Roman" panose="02020603050405020304" pitchFamily="18" charset="0"/>
              </a:rPr>
              <a:t> Helps students recognize harmful habits like nocturnal usage.</a:t>
            </a:r>
          </a:p>
          <a:p>
            <a:r>
              <a:rPr lang="en-US" b="1" dirty="0">
                <a:latin typeface="Times New Roman" panose="02020603050405020304" pitchFamily="18" charset="0"/>
                <a:cs typeface="Times New Roman" panose="02020603050405020304" pitchFamily="18" charset="0"/>
              </a:rPr>
              <a:t>Targeted Intervention:</a:t>
            </a:r>
            <a:r>
              <a:rPr lang="en-US" dirty="0">
                <a:latin typeface="Times New Roman" panose="02020603050405020304" pitchFamily="18" charset="0"/>
                <a:cs typeface="Times New Roman" panose="02020603050405020304" pitchFamily="18" charset="0"/>
              </a:rPr>
              <a:t> Supports educators in providing data-driven counseling.</a:t>
            </a:r>
          </a:p>
          <a:p>
            <a:r>
              <a:rPr lang="en-US" b="1" dirty="0">
                <a:latin typeface="Times New Roman" panose="02020603050405020304" pitchFamily="18" charset="0"/>
                <a:cs typeface="Times New Roman" panose="02020603050405020304" pitchFamily="18" charset="0"/>
              </a:rPr>
              <a:t>Academic Improvement:</a:t>
            </a:r>
            <a:r>
              <a:rPr lang="en-US" dirty="0">
                <a:latin typeface="Times New Roman" panose="02020603050405020304" pitchFamily="18" charset="0"/>
                <a:cs typeface="Times New Roman" panose="02020603050405020304" pitchFamily="18" charset="0"/>
              </a:rPr>
              <a:t> Reduces digital distractions to enhance student focus and productivity.</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0167CD0-CBB1-835A-0852-445FD1E86D02}"/>
              </a:ext>
            </a:extLst>
          </p:cNvPr>
          <p:cNvPicPr>
            <a:picLocks noChangeAspect="1"/>
          </p:cNvPicPr>
          <p:nvPr/>
        </p:nvPicPr>
        <p:blipFill>
          <a:blip r:embed="rId4"/>
          <a:stretch>
            <a:fillRect/>
          </a:stretch>
        </p:blipFill>
        <p:spPr>
          <a:xfrm>
            <a:off x="1999827" y="3581400"/>
            <a:ext cx="6058746" cy="4153728"/>
          </a:xfrm>
          <a:prstGeom prst="rect">
            <a:avLst/>
          </a:prstGeom>
        </p:spPr>
      </p:pic>
    </p:spTree>
    <p:extLst>
      <p:ext uri="{BB962C8B-B14F-4D97-AF65-F5344CB8AC3E}">
        <p14:creationId xmlns:p14="http://schemas.microsoft.com/office/powerpoint/2010/main" val="3328238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93FCFF85-545E-04E8-04EB-EE214E22F97D}"/>
              </a:ext>
            </a:extLst>
          </p:cNvPr>
          <p:cNvGrpSpPr/>
          <p:nvPr/>
        </p:nvGrpSpPr>
        <p:grpSpPr>
          <a:xfrm>
            <a:off x="2477248" y="173289"/>
            <a:ext cx="5103904" cy="1198311"/>
            <a:chOff x="2648188" y="47148"/>
            <a:chExt cx="5103904" cy="1198311"/>
          </a:xfrm>
        </p:grpSpPr>
        <p:pic>
          <p:nvPicPr>
            <p:cNvPr id="6" name="object 4">
              <a:extLst>
                <a:ext uri="{FF2B5EF4-FFF2-40B4-BE49-F238E27FC236}">
                  <a16:creationId xmlns:a16="http://schemas.microsoft.com/office/drawing/2014/main" id="{3A6E3171-1899-5CF0-FCC9-CBA7DB6559BD}"/>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7723B004-4480-DF3E-4086-5A3AD7646738}"/>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6B063-0128-7391-765D-16E1116CA02C}"/>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18A803A6-20B5-511E-0D30-EA85A80E5082}"/>
                </a:ext>
              </a:extLst>
            </p:cNvPr>
            <p:cNvSpPr/>
            <p:nvPr/>
          </p:nvSpPr>
          <p:spPr>
            <a:xfrm rot="6082">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Association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
        <p:nvSpPr>
          <p:cNvPr id="11" name="TextBox 10">
            <a:extLst>
              <a:ext uri="{FF2B5EF4-FFF2-40B4-BE49-F238E27FC236}">
                <a16:creationId xmlns:a16="http://schemas.microsoft.com/office/drawing/2014/main" id="{F3D14513-7586-E7A6-27A8-317F9D801780}"/>
              </a:ext>
            </a:extLst>
          </p:cNvPr>
          <p:cNvSpPr txBox="1"/>
          <p:nvPr/>
        </p:nvSpPr>
        <p:spPr>
          <a:xfrm>
            <a:off x="838200" y="1066800"/>
            <a:ext cx="8610600" cy="5970865"/>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Association </a:t>
            </a:r>
            <a:r>
              <a:rPr lang="en-US" dirty="0">
                <a:latin typeface="Times New Roman" panose="02020603050405020304" pitchFamily="18" charset="0"/>
                <a:cs typeface="Times New Roman" panose="02020603050405020304" pitchFamily="18" charset="0"/>
              </a:rPr>
              <a:t>is a data mining technique used to discover patterns and relationships between items in a dataset. It's commonly used in market basket analysis to identify products that are frequently purchased together.</a:t>
            </a:r>
          </a:p>
          <a:p>
            <a:pPr algn="just"/>
            <a:endParaRPr lang="en-US" dirty="0"/>
          </a:p>
          <a:p>
            <a:pPr algn="just"/>
            <a:r>
              <a:rPr lang="en-US" sz="2000" b="1" dirty="0">
                <a:latin typeface="Times New Roman" panose="02020603050405020304" pitchFamily="18" charset="0"/>
                <a:cs typeface="Times New Roman" panose="02020603050405020304" pitchFamily="18" charset="0"/>
              </a:rPr>
              <a:t>Types of Association:</a:t>
            </a:r>
          </a:p>
          <a:p>
            <a:pPr algn="just"/>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b="1" dirty="0">
                <a:latin typeface="Times New Roman" panose="02020603050405020304" pitchFamily="18" charset="0"/>
                <a:cs typeface="Times New Roman" panose="02020603050405020304" pitchFamily="18" charset="0"/>
              </a:rPr>
              <a:t>Positive Association</a:t>
            </a:r>
            <a:r>
              <a:rPr lang="en-US" dirty="0">
                <a:latin typeface="Times New Roman" panose="02020603050405020304" pitchFamily="18" charset="0"/>
                <a:cs typeface="Times New Roman" panose="02020603050405020304" pitchFamily="18" charset="0"/>
              </a:rPr>
              <a:t>: When the presence of one item increases the likelihood of another item being present.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Negative Association</a:t>
            </a:r>
            <a:r>
              <a:rPr lang="en-US" dirty="0">
                <a:latin typeface="Times New Roman" panose="02020603050405020304" pitchFamily="18" charset="0"/>
                <a:cs typeface="Times New Roman" panose="02020603050405020304" pitchFamily="18" charset="0"/>
              </a:rPr>
              <a:t>: When the presence of one item decreases the likelihood of   another item being present.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3. </a:t>
            </a:r>
            <a:r>
              <a:rPr lang="en-US" b="1" dirty="0">
                <a:latin typeface="Times New Roman" panose="02020603050405020304" pitchFamily="18" charset="0"/>
                <a:cs typeface="Times New Roman" panose="02020603050405020304" pitchFamily="18" charset="0"/>
              </a:rPr>
              <a:t>Neutral Association</a:t>
            </a:r>
            <a:r>
              <a:rPr lang="en-US" dirty="0">
                <a:latin typeface="Times New Roman" panose="02020603050405020304" pitchFamily="18" charset="0"/>
                <a:cs typeface="Times New Roman" panose="02020603050405020304" pitchFamily="18" charset="0"/>
              </a:rPr>
              <a:t>: When there's no significant relationship between </a:t>
            </a:r>
            <a:r>
              <a:rPr lang="en-US" dirty="0" err="1">
                <a:latin typeface="Times New Roman" panose="02020603050405020304" pitchFamily="18" charset="0"/>
                <a:cs typeface="Times New Roman" panose="02020603050405020304" pitchFamily="18" charset="0"/>
              </a:rPr>
              <a:t>items.Apriori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Algorithm:Apriori</a:t>
            </a:r>
            <a:r>
              <a:rPr lang="en-US" dirty="0">
                <a:latin typeface="Times New Roman" panose="02020603050405020304" pitchFamily="18" charset="0"/>
                <a:cs typeface="Times New Roman" panose="02020603050405020304" pitchFamily="18" charset="0"/>
              </a:rPr>
              <a:t> is a popular algorithm used for association rule mining.</a:t>
            </a:r>
          </a:p>
          <a:p>
            <a:pPr algn="just"/>
            <a:r>
              <a:rPr lang="en-US" dirty="0">
                <a:latin typeface="Times New Roman" panose="02020603050405020304" pitchFamily="18" charset="0"/>
                <a:cs typeface="Times New Roman" panose="02020603050405020304" pitchFamily="18" charset="0"/>
              </a:rPr>
              <a:t> It works by identifying frequent </a:t>
            </a:r>
            <a:r>
              <a:rPr lang="en-US" dirty="0" err="1">
                <a:latin typeface="Times New Roman" panose="02020603050405020304" pitchFamily="18" charset="0"/>
                <a:cs typeface="Times New Roman" panose="02020603050405020304" pitchFamily="18" charset="0"/>
              </a:rPr>
              <a:t>itemsets</a:t>
            </a:r>
            <a:r>
              <a:rPr lang="en-US" dirty="0">
                <a:latin typeface="Times New Roman" panose="02020603050405020304" pitchFamily="18" charset="0"/>
                <a:cs typeface="Times New Roman" panose="02020603050405020304" pitchFamily="18" charset="0"/>
              </a:rPr>
              <a:t> and generating association </a:t>
            </a:r>
            <a:r>
              <a:rPr lang="en-US" dirty="0" err="1">
                <a:latin typeface="Times New Roman" panose="02020603050405020304" pitchFamily="18" charset="0"/>
                <a:cs typeface="Times New Roman" panose="02020603050405020304" pitchFamily="18" charset="0"/>
              </a:rPr>
              <a:t>rules.Key</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Formulas:</a:t>
            </a:r>
          </a:p>
          <a:p>
            <a:pPr marL="342900" indent="-342900" algn="just">
              <a:buAutoNum type="arabicPeriod"/>
            </a:pPr>
            <a:r>
              <a:rPr lang="en-US" b="1" dirty="0">
                <a:latin typeface="Times New Roman" panose="02020603050405020304" pitchFamily="18" charset="0"/>
                <a:cs typeface="Times New Roman" panose="02020603050405020304" pitchFamily="18" charset="0"/>
              </a:rPr>
              <a:t>Support (A): </a:t>
            </a:r>
            <a:r>
              <a:rPr lang="en-US" dirty="0">
                <a:latin typeface="Times New Roman" panose="02020603050405020304" pitchFamily="18" charset="0"/>
                <a:cs typeface="Times New Roman" panose="02020603050405020304" pitchFamily="18" charset="0"/>
              </a:rPr>
              <a:t>Support(A) = (Number of transactions containing A) / (Total number of transactions)</a:t>
            </a:r>
          </a:p>
          <a:p>
            <a:pPr marL="342900" indent="-342900" algn="just">
              <a:buAutoNum type="arabicPeriod"/>
            </a:pPr>
            <a:r>
              <a:rPr lang="en-US" b="1" dirty="0">
                <a:latin typeface="Times New Roman" panose="02020603050405020304" pitchFamily="18" charset="0"/>
                <a:cs typeface="Times New Roman" panose="02020603050405020304" pitchFamily="18" charset="0"/>
              </a:rPr>
              <a:t> Confidence (A → B): </a:t>
            </a:r>
            <a:r>
              <a:rPr lang="en-US" dirty="0">
                <a:latin typeface="Times New Roman" panose="02020603050405020304" pitchFamily="18" charset="0"/>
                <a:cs typeface="Times New Roman" panose="02020603050405020304" pitchFamily="18" charset="0"/>
              </a:rPr>
              <a:t> Confidence(A → B) = Support(A ∪ B) / Support(A)</a:t>
            </a:r>
          </a:p>
          <a:p>
            <a:pPr marL="342900" indent="-342900" algn="just">
              <a:buAutoNum type="arabicPeriod"/>
            </a:pPr>
            <a:r>
              <a:rPr lang="en-US" b="1" dirty="0">
                <a:latin typeface="Times New Roman" panose="02020603050405020304" pitchFamily="18" charset="0"/>
                <a:cs typeface="Times New Roman" panose="02020603050405020304" pitchFamily="18" charset="0"/>
              </a:rPr>
              <a:t> Lift (A → B): </a:t>
            </a:r>
            <a:r>
              <a:rPr lang="en-US" dirty="0">
                <a:latin typeface="Times New Roman" panose="02020603050405020304" pitchFamily="18" charset="0"/>
                <a:cs typeface="Times New Roman" panose="02020603050405020304" pitchFamily="18" charset="0"/>
              </a:rPr>
              <a:t>Lift(A → B) = Support(A ∪ B) / (Support(A) × Support(B))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584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ADFA1353-3D50-038C-F3FB-D24B7B28198D}"/>
              </a:ext>
            </a:extLst>
          </p:cNvPr>
          <p:cNvGrpSpPr/>
          <p:nvPr/>
        </p:nvGrpSpPr>
        <p:grpSpPr>
          <a:xfrm>
            <a:off x="2477248" y="111202"/>
            <a:ext cx="5103904" cy="1198311"/>
            <a:chOff x="2648188" y="47148"/>
            <a:chExt cx="5103904" cy="1198311"/>
          </a:xfrm>
        </p:grpSpPr>
        <p:pic>
          <p:nvPicPr>
            <p:cNvPr id="3" name="object 4">
              <a:extLst>
                <a:ext uri="{FF2B5EF4-FFF2-40B4-BE49-F238E27FC236}">
                  <a16:creationId xmlns:a16="http://schemas.microsoft.com/office/drawing/2014/main" id="{6C345725-3416-AC3E-1504-2827482BD3AC}"/>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9E600D17-ED55-9EFE-97B3-5B75B8189B5A}"/>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FF22A8B-DDC9-B37F-12AE-AE4D7157137C}"/>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B838486E-EC16-29A7-B9AA-987DFC377926}"/>
                </a:ext>
              </a:extLst>
            </p:cNvPr>
            <p:cNvSpPr/>
            <p:nvPr/>
          </p:nvSpPr>
          <p:spPr>
            <a:xfrm rot="6082">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Association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sp>
        <p:nvSpPr>
          <p:cNvPr id="7" name="TextBox 6">
            <a:extLst>
              <a:ext uri="{FF2B5EF4-FFF2-40B4-BE49-F238E27FC236}">
                <a16:creationId xmlns:a16="http://schemas.microsoft.com/office/drawing/2014/main" id="{51807849-17B1-8621-66F9-08CAE6087181}"/>
              </a:ext>
            </a:extLst>
          </p:cNvPr>
          <p:cNvSpPr txBox="1"/>
          <p:nvPr/>
        </p:nvSpPr>
        <p:spPr>
          <a:xfrm>
            <a:off x="838200" y="1242772"/>
            <a:ext cx="8458200" cy="2923877"/>
          </a:xfrm>
          <a:prstGeom prst="rect">
            <a:avLst/>
          </a:prstGeom>
          <a:noFill/>
        </p:spPr>
        <p:txBody>
          <a:bodyPr wrap="square" rtlCol="0">
            <a:spAutoFit/>
          </a:bodyPr>
          <a:lstStyle/>
          <a:p>
            <a:r>
              <a:rPr lang="en-US" sz="2400" b="1" dirty="0"/>
              <a:t>How </a:t>
            </a:r>
            <a:r>
              <a:rPr lang="en-US" sz="2400" b="1" dirty="0" err="1"/>
              <a:t>Apriori</a:t>
            </a:r>
            <a:r>
              <a:rPr lang="en-US" sz="2400" b="1" dirty="0"/>
              <a:t> Works:</a:t>
            </a:r>
          </a:p>
          <a:p>
            <a:endParaRPr lang="en-US" sz="2000" dirty="0"/>
          </a:p>
          <a:p>
            <a:pPr marL="342900" indent="-342900">
              <a:buAutoNum type="arabicPeriod"/>
            </a:pPr>
            <a:r>
              <a:rPr lang="en-US" sz="2000" dirty="0"/>
              <a:t>Set a minimum support threshold.</a:t>
            </a:r>
          </a:p>
          <a:p>
            <a:pPr marL="342900" indent="-342900">
              <a:buAutoNum type="arabicPeriod"/>
            </a:pPr>
            <a:endParaRPr lang="en-US" sz="2000" dirty="0"/>
          </a:p>
          <a:p>
            <a:r>
              <a:rPr lang="en-US" sz="2000" dirty="0"/>
              <a:t>2. Generate frequent </a:t>
            </a:r>
            <a:r>
              <a:rPr lang="en-US" sz="2000" dirty="0" err="1"/>
              <a:t>itemsets</a:t>
            </a:r>
            <a:r>
              <a:rPr lang="en-US" sz="2000" dirty="0"/>
              <a:t> (</a:t>
            </a:r>
            <a:r>
              <a:rPr lang="en-US" sz="2000" dirty="0" err="1"/>
              <a:t>itemsets</a:t>
            </a:r>
            <a:r>
              <a:rPr lang="en-US" sz="2000" dirty="0"/>
              <a:t> with support ≥ threshold).</a:t>
            </a:r>
          </a:p>
          <a:p>
            <a:pPr marL="342900" indent="-342900">
              <a:buAutoNum type="arabicPeriod"/>
            </a:pPr>
            <a:endParaRPr lang="en-US" sz="2000" dirty="0"/>
          </a:p>
          <a:p>
            <a:r>
              <a:rPr lang="en-US" sz="2000" dirty="0"/>
              <a:t>3. Generate association rules from frequent </a:t>
            </a:r>
            <a:r>
              <a:rPr lang="en-US" sz="2000" dirty="0" err="1"/>
              <a:t>itemsets</a:t>
            </a:r>
            <a:r>
              <a:rPr lang="en-US" sz="2000" dirty="0"/>
              <a:t>.</a:t>
            </a:r>
          </a:p>
          <a:p>
            <a:pPr marL="342900" indent="-342900">
              <a:buAutoNum type="arabicPeriod"/>
            </a:pPr>
            <a:endParaRPr lang="en-US" sz="2000" dirty="0"/>
          </a:p>
          <a:p>
            <a:r>
              <a:rPr lang="en-US" sz="2000" dirty="0"/>
              <a:t>4. Prune rules based on confidence and lift.</a:t>
            </a:r>
            <a:endParaRPr lang="en-IN" sz="2000" dirty="0"/>
          </a:p>
        </p:txBody>
      </p:sp>
    </p:spTree>
    <p:extLst>
      <p:ext uri="{BB962C8B-B14F-4D97-AF65-F5344CB8AC3E}">
        <p14:creationId xmlns:p14="http://schemas.microsoft.com/office/powerpoint/2010/main" val="2417241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1B5F6DA9-13F2-4D5B-4228-7ADEDBBC0AF8}"/>
              </a:ext>
            </a:extLst>
          </p:cNvPr>
          <p:cNvGrpSpPr/>
          <p:nvPr/>
        </p:nvGrpSpPr>
        <p:grpSpPr>
          <a:xfrm>
            <a:off x="2477248" y="111202"/>
            <a:ext cx="5103904" cy="1198311"/>
            <a:chOff x="2648188" y="47148"/>
            <a:chExt cx="5103904" cy="1198311"/>
          </a:xfrm>
        </p:grpSpPr>
        <p:pic>
          <p:nvPicPr>
            <p:cNvPr id="3" name="object 4">
              <a:extLst>
                <a:ext uri="{FF2B5EF4-FFF2-40B4-BE49-F238E27FC236}">
                  <a16:creationId xmlns:a16="http://schemas.microsoft.com/office/drawing/2014/main" id="{A47222AA-9667-0172-37B5-D50B510D956F}"/>
                </a:ext>
              </a:extLst>
            </p:cNvPr>
            <p:cNvPicPr/>
            <p:nvPr/>
          </p:nvPicPr>
          <p:blipFill>
            <a:blip r:embed="rId2"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990C3BE5-A4E5-346E-C7E7-532ED4C36702}"/>
                </a:ext>
              </a:extLst>
            </p:cNvPr>
            <p:cNvPicPr/>
            <p:nvPr/>
          </p:nvPicPr>
          <p:blipFill>
            <a:blip r:embed="rId3"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6D8E9976-4104-0FF0-B148-BD9CE7D6EC06}"/>
                </a:ext>
              </a:extLst>
            </p:cNvPr>
            <p:cNvPicPr/>
            <p:nvPr/>
          </p:nvPicPr>
          <p:blipFill>
            <a:blip r:embed="rId4"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04144B9-959A-5995-9FBD-07D61F01C8CC}"/>
                </a:ext>
              </a:extLst>
            </p:cNvPr>
            <p:cNvSpPr/>
            <p:nvPr/>
          </p:nvSpPr>
          <p:spPr>
            <a:xfrm rot="6082">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200" b="1" dirty="0">
                  <a:solidFill>
                    <a:schemeClr val="bg1"/>
                  </a:solidFill>
                  <a:latin typeface="Times New Roman" panose="02020603050405020304" pitchFamily="18" charset="0"/>
                  <a:cs typeface="Times New Roman" panose="02020603050405020304" pitchFamily="18" charset="0"/>
                </a:rPr>
                <a:t>Association</a:t>
              </a:r>
            </a:p>
            <a:p>
              <a:pPr algn="ctr"/>
              <a:endParaRPr lang="en-IN" sz="2200" b="1" dirty="0">
                <a:solidFill>
                  <a:schemeClr val="bg1"/>
                </a:solidFill>
                <a:latin typeface="Times New Roman" panose="02020603050405020304" pitchFamily="18" charset="0"/>
                <a:cs typeface="Times New Roman" panose="02020603050405020304" pitchFamily="18" charset="0"/>
              </a:endParaRPr>
            </a:p>
            <a:p>
              <a:pPr algn="ctr"/>
              <a:endParaRPr sz="2200" dirty="0"/>
            </a:p>
          </p:txBody>
        </p:sp>
      </p:grpSp>
      <p:pic>
        <p:nvPicPr>
          <p:cNvPr id="8" name="Picture 7">
            <a:extLst>
              <a:ext uri="{FF2B5EF4-FFF2-40B4-BE49-F238E27FC236}">
                <a16:creationId xmlns:a16="http://schemas.microsoft.com/office/drawing/2014/main" id="{7FD54D5A-9EB1-B9FC-A1F4-5485E882BC46}"/>
              </a:ext>
            </a:extLst>
          </p:cNvPr>
          <p:cNvPicPr>
            <a:picLocks noChangeAspect="1"/>
          </p:cNvPicPr>
          <p:nvPr/>
        </p:nvPicPr>
        <p:blipFill>
          <a:blip r:embed="rId5"/>
          <a:stretch>
            <a:fillRect/>
          </a:stretch>
        </p:blipFill>
        <p:spPr>
          <a:xfrm>
            <a:off x="623286" y="987278"/>
            <a:ext cx="8901714" cy="6099321"/>
          </a:xfrm>
          <a:prstGeom prst="rect">
            <a:avLst/>
          </a:prstGeom>
        </p:spPr>
      </p:pic>
    </p:spTree>
    <p:extLst>
      <p:ext uri="{BB962C8B-B14F-4D97-AF65-F5344CB8AC3E}">
        <p14:creationId xmlns:p14="http://schemas.microsoft.com/office/powerpoint/2010/main" val="3315134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9F748-1117-C168-964C-550AA43FE1AB}"/>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DA692544-9DAA-0EE0-5765-0D410B755497}"/>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0597CD15-880C-E6A7-BD83-8259FBBE7DF3}"/>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Classification</a:t>
            </a:r>
            <a:endParaRPr lang="en-IN" sz="2000" dirty="0">
              <a:effectLst/>
            </a:endParaRPr>
          </a:p>
        </p:txBody>
      </p:sp>
      <p:sp>
        <p:nvSpPr>
          <p:cNvPr id="19" name="TextBox 18">
            <a:extLst>
              <a:ext uri="{FF2B5EF4-FFF2-40B4-BE49-F238E27FC236}">
                <a16:creationId xmlns:a16="http://schemas.microsoft.com/office/drawing/2014/main" id="{D5B57076-DCE8-C960-F35D-4C359D62573F}"/>
              </a:ext>
            </a:extLst>
          </p:cNvPr>
          <p:cNvSpPr txBox="1"/>
          <p:nvPr/>
        </p:nvSpPr>
        <p:spPr>
          <a:xfrm>
            <a:off x="685800" y="1144851"/>
            <a:ext cx="8686800" cy="5115311"/>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Classification: J48 Algorithm (Decision Tree)</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J48 is a Decision Tree algorithm used for classification. It builds a tree structure to predict the target variable based on input features.</a:t>
            </a:r>
          </a:p>
          <a:p>
            <a:pPr algn="just">
              <a:lnSpc>
                <a:spcPct val="150000"/>
              </a:lnSpc>
            </a:pPr>
            <a:r>
              <a:rPr lang="en-US" sz="2000" dirty="0">
                <a:latin typeface="Times New Roman" panose="02020603050405020304" pitchFamily="18" charset="0"/>
                <a:cs typeface="Times New Roman" panose="02020603050405020304" pitchFamily="18" charset="0"/>
              </a:rPr>
              <a:t>In this project, J48 is used to predict the </a:t>
            </a:r>
            <a:r>
              <a:rPr lang="en-US" sz="2000" b="1" dirty="0">
                <a:latin typeface="Times New Roman" panose="02020603050405020304" pitchFamily="18" charset="0"/>
                <a:cs typeface="Times New Roman" panose="02020603050405020304" pitchFamily="18" charset="0"/>
              </a:rPr>
              <a:t>Digital Addiction Risk Level</a:t>
            </a:r>
            <a:r>
              <a:rPr lang="en-US" sz="2000" dirty="0">
                <a:latin typeface="Times New Roman" panose="02020603050405020304" pitchFamily="18" charset="0"/>
                <a:cs typeface="Times New Roman" panose="02020603050405020304" pitchFamily="18" charset="0"/>
              </a:rPr>
              <a:t> of students. The model classifies students into:</a:t>
            </a:r>
          </a:p>
          <a:p>
            <a:pPr algn="just">
              <a:lnSpc>
                <a:spcPct val="150000"/>
              </a:lnSpc>
            </a:pPr>
            <a:r>
              <a:rPr lang="en-US" sz="2000" b="1" dirty="0">
                <a:latin typeface="Times New Roman" panose="02020603050405020304" pitchFamily="18" charset="0"/>
                <a:cs typeface="Times New Roman" panose="02020603050405020304" pitchFamily="18" charset="0"/>
              </a:rPr>
              <a:t>Safe</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At-Risk</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High-Risk</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If a student has: </a:t>
            </a:r>
            <a:r>
              <a:rPr lang="en-US" sz="2000" b="1" dirty="0">
                <a:latin typeface="Times New Roman" panose="02020603050405020304" pitchFamily="18" charset="0"/>
                <a:cs typeface="Times New Roman" panose="02020603050405020304" pitchFamily="18" charset="0"/>
              </a:rPr>
              <a:t>High Night Usage + High Unlock Count</a:t>
            </a:r>
            <a:r>
              <a:rPr lang="en-US" sz="2000" dirty="0">
                <a:latin typeface="Times New Roman" panose="02020603050405020304" pitchFamily="18" charset="0"/>
                <a:cs typeface="Times New Roman" panose="02020603050405020304" pitchFamily="18" charset="0"/>
              </a:rPr>
              <a:t> → Classified as </a:t>
            </a:r>
            <a:r>
              <a:rPr lang="en-US" sz="2000" b="1" dirty="0">
                <a:latin typeface="Times New Roman" panose="02020603050405020304" pitchFamily="18" charset="0"/>
                <a:cs typeface="Times New Roman" panose="02020603050405020304" pitchFamily="18" charset="0"/>
              </a:rPr>
              <a:t>High-Risk</a:t>
            </a:r>
            <a:endParaRPr lang="en-US" sz="2000" dirty="0">
              <a:latin typeface="Times New Roman" panose="02020603050405020304" pitchFamily="18" charset="0"/>
              <a:cs typeface="Times New Roman" panose="02020603050405020304" pitchFamily="18" charset="0"/>
            </a:endParaRPr>
          </a:p>
          <a:p>
            <a:pPr algn="just">
              <a:lnSpc>
                <a:spcPct val="150000"/>
              </a:lnSpc>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308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0CD82-EDCD-9513-84F1-BBDCB9462F5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E73AF41-FC21-2FBD-4EC0-4146B1035529}"/>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219E9611-851E-068F-5549-D0E486F7E110}"/>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E0A510A0-BDB0-91E5-3E89-6D78587E0FBD}"/>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Classification</a:t>
            </a:r>
            <a:endParaRPr lang="en-IN" sz="2000" dirty="0">
              <a:effectLst/>
            </a:endParaRPr>
          </a:p>
        </p:txBody>
      </p:sp>
      <p:sp>
        <p:nvSpPr>
          <p:cNvPr id="19" name="TextBox 18">
            <a:extLst>
              <a:ext uri="{FF2B5EF4-FFF2-40B4-BE49-F238E27FC236}">
                <a16:creationId xmlns:a16="http://schemas.microsoft.com/office/drawing/2014/main" id="{0816BF2E-92AA-266C-29E0-8CAB0C91F043}"/>
              </a:ext>
            </a:extLst>
          </p:cNvPr>
          <p:cNvSpPr txBox="1"/>
          <p:nvPr/>
        </p:nvSpPr>
        <p:spPr>
          <a:xfrm>
            <a:off x="685800" y="1144851"/>
            <a:ext cx="8686800" cy="129266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J48 Algorithm (Decision Tree)</a:t>
            </a:r>
          </a:p>
          <a:p>
            <a:pPr>
              <a:buNone/>
            </a:pPr>
            <a:endParaRPr lang="en-IN" sz="20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buNone/>
            </a:pPr>
            <a:endParaRPr lang="en-US"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D77F4B6-1318-5886-E120-F8A798690427}"/>
              </a:ext>
            </a:extLst>
          </p:cNvPr>
          <p:cNvPicPr>
            <a:picLocks noChangeAspect="1"/>
          </p:cNvPicPr>
          <p:nvPr/>
        </p:nvPicPr>
        <p:blipFill>
          <a:blip r:embed="rId4"/>
          <a:stretch>
            <a:fillRect/>
          </a:stretch>
        </p:blipFill>
        <p:spPr>
          <a:xfrm rot="16200000">
            <a:off x="2208273" y="1419022"/>
            <a:ext cx="6030167" cy="6774486"/>
          </a:xfrm>
          <a:prstGeom prst="rect">
            <a:avLst/>
          </a:prstGeom>
        </p:spPr>
      </p:pic>
    </p:spTree>
    <p:extLst>
      <p:ext uri="{BB962C8B-B14F-4D97-AF65-F5344CB8AC3E}">
        <p14:creationId xmlns:p14="http://schemas.microsoft.com/office/powerpoint/2010/main" val="1185129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7340-75CF-6DCB-03FB-F14A166215F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65281A6-DD71-3EEC-9B64-84CE038E3CDD}"/>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AC0C7B18-2962-D3D3-A9EA-B2549A6D6170}"/>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528FA1C0-C4B7-12E2-9194-8747ADD9DCFF}"/>
              </a:ext>
            </a:extLst>
          </p:cNvPr>
          <p:cNvSpPr txBox="1"/>
          <p:nvPr/>
        </p:nvSpPr>
        <p:spPr>
          <a:xfrm>
            <a:off x="3810000" y="257115"/>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Conclusion</a:t>
            </a:r>
            <a:endParaRPr lang="en-IN" sz="2000" dirty="0">
              <a:effectLst/>
            </a:endParaRPr>
          </a:p>
        </p:txBody>
      </p:sp>
      <p:sp>
        <p:nvSpPr>
          <p:cNvPr id="19" name="TextBox 18">
            <a:extLst>
              <a:ext uri="{FF2B5EF4-FFF2-40B4-BE49-F238E27FC236}">
                <a16:creationId xmlns:a16="http://schemas.microsoft.com/office/drawing/2014/main" id="{8646F171-B2E2-630E-1107-087C8C8F32B8}"/>
              </a:ext>
            </a:extLst>
          </p:cNvPr>
          <p:cNvSpPr txBox="1"/>
          <p:nvPr/>
        </p:nvSpPr>
        <p:spPr>
          <a:xfrm>
            <a:off x="533400" y="1143000"/>
            <a:ext cx="8686800" cy="6454139"/>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Successful Implementation:</a:t>
            </a:r>
            <a:r>
              <a:rPr lang="en-US" sz="2000" dirty="0">
                <a:latin typeface="Times New Roman" panose="02020603050405020304" pitchFamily="18" charset="0"/>
                <a:cs typeface="Times New Roman" panose="02020603050405020304" pitchFamily="18" charset="0"/>
              </a:rPr>
              <a:t> Demonstrated the use of Data Mining to detect and predict digital addiction risk levels among students.</a:t>
            </a:r>
          </a:p>
          <a:p>
            <a:pPr algn="just">
              <a:lnSpc>
                <a:spcPct val="150000"/>
              </a:lnSpc>
            </a:pPr>
            <a:r>
              <a:rPr lang="en-US" sz="2000" b="1" dirty="0">
                <a:latin typeface="Times New Roman" panose="02020603050405020304" pitchFamily="18" charset="0"/>
                <a:cs typeface="Times New Roman" panose="02020603050405020304" pitchFamily="18" charset="0"/>
              </a:rPr>
              <a:t>Effective Preprocessing:</a:t>
            </a:r>
            <a:r>
              <a:rPr lang="en-US" sz="2000" dirty="0">
                <a:latin typeface="Times New Roman" panose="02020603050405020304" pitchFamily="18" charset="0"/>
                <a:cs typeface="Times New Roman" panose="02020603050405020304" pitchFamily="18" charset="0"/>
              </a:rPr>
              <a:t> Used cleaning and normalization techniques to ensure high model accuracy and reliable behavioral analysis.</a:t>
            </a:r>
          </a:p>
          <a:p>
            <a:pPr algn="just">
              <a:lnSpc>
                <a:spcPct val="150000"/>
              </a:lnSpc>
            </a:pPr>
            <a:r>
              <a:rPr lang="en-US" sz="2000" b="1" dirty="0">
                <a:latin typeface="Times New Roman" panose="02020603050405020304" pitchFamily="18" charset="0"/>
                <a:cs typeface="Times New Roman" panose="02020603050405020304" pitchFamily="18" charset="0"/>
              </a:rPr>
              <a:t>Risk Classification:</a:t>
            </a:r>
            <a:r>
              <a:rPr lang="en-US" sz="2000" dirty="0">
                <a:latin typeface="Times New Roman" panose="02020603050405020304" pitchFamily="18" charset="0"/>
                <a:cs typeface="Times New Roman" panose="02020603050405020304" pitchFamily="18" charset="0"/>
              </a:rPr>
              <a:t> The </a:t>
            </a:r>
            <a:r>
              <a:rPr lang="en-US" sz="2000" b="1" dirty="0">
                <a:latin typeface="Times New Roman" panose="02020603050405020304" pitchFamily="18" charset="0"/>
                <a:cs typeface="Times New Roman" panose="02020603050405020304" pitchFamily="18" charset="0"/>
              </a:rPr>
              <a:t>J48 algorithm</a:t>
            </a:r>
            <a:r>
              <a:rPr lang="en-US" sz="2000" dirty="0">
                <a:latin typeface="Times New Roman" panose="02020603050405020304" pitchFamily="18" charset="0"/>
                <a:cs typeface="Times New Roman" panose="02020603050405020304" pitchFamily="18" charset="0"/>
              </a:rPr>
              <a:t> effectively categorized users into </a:t>
            </a:r>
            <a:r>
              <a:rPr lang="en-US" sz="2000" b="1" dirty="0">
                <a:latin typeface="Times New Roman" panose="02020603050405020304" pitchFamily="18" charset="0"/>
                <a:cs typeface="Times New Roman" panose="02020603050405020304" pitchFamily="18" charset="0"/>
              </a:rPr>
              <a:t>Safe, At-Risk, and High-Risk</a:t>
            </a:r>
            <a:r>
              <a:rPr lang="en-US" sz="2000" dirty="0">
                <a:latin typeface="Times New Roman" panose="02020603050405020304" pitchFamily="18" charset="0"/>
                <a:cs typeface="Times New Roman" panose="02020603050405020304" pitchFamily="18" charset="0"/>
              </a:rPr>
              <a:t> groups.</a:t>
            </a:r>
          </a:p>
          <a:p>
            <a:pPr algn="just">
              <a:lnSpc>
                <a:spcPct val="150000"/>
              </a:lnSpc>
            </a:pPr>
            <a:r>
              <a:rPr lang="en-US" sz="2000" b="1" dirty="0">
                <a:latin typeface="Times New Roman" panose="02020603050405020304" pitchFamily="18" charset="0"/>
                <a:cs typeface="Times New Roman" panose="02020603050405020304" pitchFamily="18" charset="0"/>
              </a:rPr>
              <a:t>Key Findings:</a:t>
            </a:r>
            <a:r>
              <a:rPr lang="en-US" sz="2000" dirty="0">
                <a:latin typeface="Times New Roman" panose="02020603050405020304" pitchFamily="18" charset="0"/>
                <a:cs typeface="Times New Roman" panose="02020603050405020304" pitchFamily="18" charset="0"/>
              </a:rPr>
              <a:t> Results show that </a:t>
            </a:r>
            <a:r>
              <a:rPr lang="en-US" sz="2000" b="1" dirty="0">
                <a:latin typeface="Times New Roman" panose="02020603050405020304" pitchFamily="18" charset="0"/>
                <a:cs typeface="Times New Roman" panose="02020603050405020304" pitchFamily="18" charset="0"/>
              </a:rPr>
              <a:t>Night Usage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Social Media Time</a:t>
            </a:r>
            <a:r>
              <a:rPr lang="en-US" sz="2000" dirty="0">
                <a:latin typeface="Times New Roman" panose="02020603050405020304" pitchFamily="18" charset="0"/>
                <a:cs typeface="Times New Roman" panose="02020603050405020304" pitchFamily="18" charset="0"/>
              </a:rPr>
              <a:t> are the most significant factors in predicting addiction.</a:t>
            </a:r>
          </a:p>
          <a:p>
            <a:pPr algn="just">
              <a:lnSpc>
                <a:spcPct val="150000"/>
              </a:lnSpc>
            </a:pPr>
            <a:r>
              <a:rPr lang="en-US" sz="2000" b="1" dirty="0">
                <a:latin typeface="Times New Roman" panose="02020603050405020304" pitchFamily="18" charset="0"/>
                <a:cs typeface="Times New Roman" panose="02020603050405020304" pitchFamily="18" charset="0"/>
              </a:rPr>
              <a:t>Decision Support:</a:t>
            </a:r>
            <a:r>
              <a:rPr lang="en-US" sz="2000" dirty="0">
                <a:latin typeface="Times New Roman" panose="02020603050405020304" pitchFamily="18" charset="0"/>
                <a:cs typeface="Times New Roman" panose="02020603050405020304" pitchFamily="18" charset="0"/>
              </a:rPr>
              <a:t> Provides a proactive tool for parents and educators to intervene early and improve student well-being.</a:t>
            </a:r>
          </a:p>
          <a:p>
            <a:pPr algn="just">
              <a:lnSpc>
                <a:spcPct val="150000"/>
              </a:lnSpc>
            </a:pPr>
            <a:endParaRPr lang="en-IN" sz="20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algn="just">
              <a:lnSpc>
                <a:spcPct val="150000"/>
              </a:lnSpc>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3480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3202</TotalTime>
  <Words>1466</Words>
  <Application>Microsoft Office PowerPoint</Application>
  <PresentationFormat>Custom</PresentationFormat>
  <Paragraphs>162</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Palatino Linotype</vt:lpstr>
      <vt:lpstr>Times New Roman</vt:lpstr>
      <vt:lpstr>Office Theme</vt:lpstr>
      <vt:lpstr>Data Mining Project Final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CLUSTERING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Leela pavani Suravarapu</cp:lastModifiedBy>
  <cp:revision>60</cp:revision>
  <cp:lastPrinted>2025-10-14T18:21:49Z</cp:lastPrinted>
  <dcterms:created xsi:type="dcterms:W3CDTF">2025-10-10T08:28:06Z</dcterms:created>
  <dcterms:modified xsi:type="dcterms:W3CDTF">2026-04-07T01:23:30Z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